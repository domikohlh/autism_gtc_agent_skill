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71456"/>
  </p:normalViewPr>
  <p:slideViewPr>
    <p:cSldViewPr snapToGrid="0" snapToObjects="1">
      <p:cViewPr>
        <p:scale>
          <a:sx n="103" d="100"/>
          <a:sy n="103" d="100"/>
        </p:scale>
        <p:origin x="144" y="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3909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framing: this is a delivery tool, not a diagnostic one.
A family gets a genetic result. The report says something like SCN2A c.5645G&gt;A, heterozygous, pathogenic — and then nothing useful follows. No one tells them the gene has a published surveillance protocol, that the direction of the variant's effect changes which seizure medication works, or that there is a patient organisation and a registry.
That gap is what this closes. The information already exists and is already published. It just never arrives. Everything in the next eight slides follows from that one observation.
Note the licence split — it signals what this actually is. The Python is small; the substance is curated clinical prose and a curated dataset.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 failures, stacked.
First, most people never get the test. 11.3% — from 7,539 electronic health records. And the study found the barriers were insurance status and race, not clinical picture. That is an access problem, and it is not one a piece of software fixes on its own.
Second — and this is the one we can actually do something about — even when the test happens and finds something, the published care implications of that finding routinely never reach the family or the paediatrician.
Be clear about scope when asked: we are not claiming to fix the 11.3%. What we do is make the result count for the people who get one, and give the ones who got a negative result the wording to ask for the next thing.
The line at the bottom is the pitch in one sentence. If someone remembers one thing, it should be that this is a delivery problem.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this concrete — funders remember cases, not architecture.
PTEN: a child with a pathogenic variant needs thyroid surveillance starting in childhood. That is not fortune-telling — it is a published protocol that prevents harm. The family is told their child has a variant in a developmental gene, and the surveillance never comes up.
SCN2A: the direction of effect — whether the variant makes the channel do more or less — decides the drug. In the 2024 Brain cohort, gain-of-function variants showed 94% good-to-excellent phenytoin response. Loss-of-function: zero. Same gene. Opposite answer. Get it backwards and you make the seizures worse.
Important caveat, and say it before anyone asks: the tool does not infer direction of effect. It states that the distinction is decisive and routes it to genetics. Guessing there would invert the treatment, which is exactly the failure mode we are built to avoid.
The closing line is the argument: nothing here is novel science. It is published, and it is not arriving.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 left to right, quickly — nobody needs the detail, they need the shape.
The key structural point: the scripts form the data spine, and the reference files govern judgement. Scripts move and shape data — they never make a clinical call. Steps 3 and 4 have no script at all; they are the agent working under written policy that lives in the repository and can be reviewed.
Two registers, not one summary with a simple version. They answer different questions. Families ask what this means for my child and what we do. Clinicians ask what the evidence is and what they are obliged to act on. Writing one and dumbing it down produces something that fails both.
If asked why the family half has no citations: it is a deliberate register rule. Journal names and URLs in the family document make it look like homework and reduce the chance any of it gets used.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It is the single design decision that makes the rest defensible.
The obvious way to build this tool is to write the surveillance schedules into a database. That is the version that eventually hurts someone. Guidelines get revised; a model's recollection of them is confidently wrong in small ways; and a family will act on a number.
So the curated index is a routing table, not a reference. It says: this gene has a protocol, it lives in this named document, it covers these organ systems. The specifics are fetched at run time and quoted with the date they were retrieved.
The failure mode is handled too. If the source cannot be reached, the tool names the document and stops rather than filling the gap from memory. That is a worse user experience and a much better clinical one.
The copyright point at the bottom is worth mentioning to an institutional funder — no guideline text is reproduced anywhere in the repository.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valuable part of the tool and the most dangerous, and it is governed by exactly one question.
Tier 1 is why the thing exists. A published protocol with a defined action — PTEN thyroid and renal, TSC renal and SEGA, NF1 optic glioma, 22q11.2 cardiac, immune and calcium. It goes in prominently, framed as standard care rather than prediction. Omitting it because it feels like predicting disease would be the actual failure.
Tier 2 is the countermeasure to a well-documented harm — symptoms in autistic people being attributed to autism and never investigated. A family who knows that regression or catatonia is a recognised feature of their syndrome seeks help months earlier.
Tier 3 is a refusal, and it is deliberate. Polygenic scores, risk inferred from a VUS, risk by pathway analogy, predictions about whether a child will speak or live independently. Not as a caveat, not as 'some studies suggest', not on request.
The three gates along the bottom are where the harm would otherwise happen — incidental cancer findings, children, and uncertain variants.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the commercial and clinical argument, not a compliance checklist.
A tool that always has an answer is a tool a clinician stops trusting after the second wrong one. The Canvas Dx number is useful evidence for that: an FDA-cleared device that declines to call 37% of real-world cases, and its visible limits are a feature.
Eligibility is the one people push back on — 'why not just tell the family whether they qualify?' Because overstating access sets a family up for a refusal they were told would not come, and the criteria vary by health system and change. We name the authority; the service decides.
On privacy, be precise about what is claimed. The redaction is regex — it catches labelled identifiers and misses a name in running prose. De-identified is not anonymous; a variant is itself identifying. And running the skill puts report content into whatever model runs the agent, under that provider's terms. That is a disclosure, and the README says plainly it is the user's decision, not the tool's.
The Cures Act point matters to any institution considering deployment — but it is a position, not a clearance, and anyone deploying near a clinic should take their own regulatory advice.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all verifiable from the repository — invite them to check.
27 genes is a deliberate number. The selection criterion was: does published care guidance actually exist for this gene? Tumour predisposition — PTEN, TSC1/2, NF1, DICER1. Channels and synaptic genes — SCN2A, SCN1A, SCN8A, GRIN2A/2B, CACNA1C, STXBP1. Chromatin and scaffold — MECP2, SHANK3, SYNGAP1 and others. Adding a gene is an entry in the index plus a prose section; adding ages or doses is explicitly forbidden.
On testing: the parser layer is automated — 34 checks against synthetic fixtures, with expectations recorded from verified runs rather than written from intent, so a failure means behaviour changed. The skill layer is scored by hand against a written rubric, because the failures that matter there are judgement failures and no assertion catches those.
Zero dependencies is a deliberate audit argument: code that touches health information is easier to review when there is little to review. PDF parsing optionally uses pdfplumber, and falls back to poppler.
Say the limitations out loud before they ask. A funder who finds an undisclosed limit stops believing the disclosed ones.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scope, honestly stated.
Each version answered a question the previous one raised. v1 translated the result. v2 came from realising that the most common report is a negative one, and that a family holding a normal microarray has been told nothing about what it could not have seen. v3 came from clinicians asking for their own documents to be put into plain language. v4 is consolidation.
Where the growth is, if asked: the gene index is the obvious axis — it is a curated starting set and every addition is a small piece of clinical curation, not engineering. The other axis is geography; access pathways currently cover the UK and US only.
What it will not become: a diagnostic classifier. Autistic adults rank genetics research 23rd of 25 priorities and causation research last. The care implications handled here are co-occurring medical conditions — cancer risk, epilepsy, cardiac issues — not autism itself, and the skill enforces that line in its tone rules. That is a deliberate position and it is worth stating in the room.
End on the last line and stop talking.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Domikohlh/autism_gtc_agent_skill"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E"/>
        </a:solidFill>
        <a:effectLst/>
      </p:bgPr>
    </p:bg>
    <p:spTree>
      <p:nvGrpSpPr>
        <p:cNvPr id="1" name=""/>
        <p:cNvGrpSpPr/>
        <p:nvPr/>
      </p:nvGrpSpPr>
      <p:grpSpPr>
        <a:xfrm>
          <a:off x="0" y="0"/>
          <a:ext cx="0" cy="0"/>
          <a:chOff x="0" y="0"/>
          <a:chExt cx="0" cy="0"/>
        </a:xfrm>
      </p:grpSpPr>
      <p:sp>
        <p:nvSpPr>
          <p:cNvPr id="2" name="Shape 0"/>
          <p:cNvSpPr/>
          <p:nvPr/>
        </p:nvSpPr>
        <p:spPr>
          <a:xfrm>
            <a:off x="9281160" y="-1371600"/>
            <a:ext cx="4754880" cy="4754880"/>
          </a:xfrm>
          <a:prstGeom prst="ellipse">
            <a:avLst/>
          </a:prstGeom>
          <a:solidFill>
            <a:srgbClr val="17565A"/>
          </a:solidFill>
          <a:ln w="12700">
            <a:solidFill>
              <a:srgbClr val="333333"/>
            </a:solidFill>
            <a:prstDash val="solid"/>
          </a:ln>
        </p:spPr>
        <p:txBody>
          <a:bodyPr/>
          <a:lstStyle/>
          <a:p>
            <a:endParaRPr lang="en-US"/>
          </a:p>
        </p:txBody>
      </p:sp>
      <p:sp>
        <p:nvSpPr>
          <p:cNvPr id="3" name="Shape 1"/>
          <p:cNvSpPr/>
          <p:nvPr/>
        </p:nvSpPr>
        <p:spPr>
          <a:xfrm>
            <a:off x="10607040" y="4114800"/>
            <a:ext cx="3108960" cy="3108960"/>
          </a:xfrm>
          <a:prstGeom prst="ellipse">
            <a:avLst/>
          </a:prstGeom>
          <a:solidFill>
            <a:srgbClr val="17565A"/>
          </a:solidFill>
          <a:ln w="12700">
            <a:solidFill>
              <a:srgbClr val="333333"/>
            </a:solidFill>
            <a:prstDash val="solid"/>
          </a:ln>
        </p:spPr>
        <p:txBody>
          <a:bodyPr/>
          <a:lstStyle/>
          <a:p>
            <a:endParaRPr lang="en-US"/>
          </a:p>
        </p:txBody>
      </p:sp>
      <p:sp>
        <p:nvSpPr>
          <p:cNvPr id="4" name="Text 2"/>
          <p:cNvSpPr/>
          <p:nvPr/>
        </p:nvSpPr>
        <p:spPr>
          <a:xfrm>
            <a:off x="640080" y="1508760"/>
            <a:ext cx="7772400" cy="274320"/>
          </a:xfrm>
          <a:prstGeom prst="rect">
            <a:avLst/>
          </a:prstGeom>
          <a:noFill/>
          <a:ln/>
        </p:spPr>
        <p:txBody>
          <a:bodyPr wrap="square" lIns="0" tIns="0" rIns="0" bIns="0" rtlCol="0" anchor="ctr"/>
          <a:lstStyle/>
          <a:p>
            <a:pPr marL="0" indent="0">
              <a:buNone/>
            </a:pPr>
            <a:r>
              <a:rPr lang="en-US" sz="1200" b="1" kern="0" spc="200" dirty="0">
                <a:solidFill>
                  <a:srgbClr val="3E8F86"/>
                </a:solidFill>
                <a:latin typeface="Calibri" pitchFamily="34" charset="0"/>
                <a:ea typeface="Calibri" pitchFamily="34" charset="-122"/>
                <a:cs typeface="Calibri" pitchFamily="34" charset="-120"/>
              </a:rPr>
              <a:t>Agent Creativity Hackathon for Autism Charity</a:t>
            </a:r>
            <a:endParaRPr lang="en-US" sz="1200" dirty="0"/>
          </a:p>
        </p:txBody>
      </p:sp>
      <p:sp>
        <p:nvSpPr>
          <p:cNvPr id="5" name="Text 3"/>
          <p:cNvSpPr/>
          <p:nvPr/>
        </p:nvSpPr>
        <p:spPr>
          <a:xfrm>
            <a:off x="640080" y="1874520"/>
            <a:ext cx="8412480" cy="1828800"/>
          </a:xfrm>
          <a:prstGeom prst="rect">
            <a:avLst/>
          </a:prstGeom>
          <a:noFill/>
          <a:ln/>
        </p:spPr>
        <p:txBody>
          <a:bodyPr wrap="square" lIns="0" tIns="0" rIns="0" bIns="0" rtlCol="0" anchor="t"/>
          <a:lstStyle/>
          <a:p>
            <a:pPr marL="0" indent="0">
              <a:lnSpc>
                <a:spcPts val="5200"/>
              </a:lnSpc>
              <a:buNone/>
            </a:pPr>
            <a:r>
              <a:rPr lang="en-US" sz="4800" b="1" dirty="0">
                <a:solidFill>
                  <a:srgbClr val="FFFFFF"/>
                </a:solidFill>
                <a:latin typeface="Cambria" pitchFamily="34" charset="0"/>
                <a:ea typeface="Cambria" pitchFamily="34" charset="-122"/>
                <a:cs typeface="Cambria" pitchFamily="34" charset="-120"/>
              </a:rPr>
              <a:t>Autism</a:t>
            </a:r>
            <a:endParaRPr lang="en-US" sz="4800" dirty="0"/>
          </a:p>
          <a:p>
            <a:pPr marL="0" indent="0">
              <a:lnSpc>
                <a:spcPts val="5200"/>
              </a:lnSpc>
              <a:buNone/>
            </a:pPr>
            <a:r>
              <a:rPr lang="en-US" sz="4800" b="1" dirty="0">
                <a:solidFill>
                  <a:srgbClr val="FFFFFF"/>
                </a:solidFill>
                <a:latin typeface="Cambria" pitchFamily="34" charset="0"/>
                <a:ea typeface="Cambria" pitchFamily="34" charset="-122"/>
                <a:cs typeface="Cambria" pitchFamily="34" charset="-120"/>
              </a:rPr>
              <a:t>Gene-to-Care Navigator</a:t>
            </a:r>
            <a:endParaRPr lang="en-US" sz="4800" dirty="0"/>
          </a:p>
        </p:txBody>
      </p:sp>
      <p:sp>
        <p:nvSpPr>
          <p:cNvPr id="6" name="Text 4"/>
          <p:cNvSpPr/>
          <p:nvPr/>
        </p:nvSpPr>
        <p:spPr>
          <a:xfrm>
            <a:off x="640080" y="3886200"/>
            <a:ext cx="7863840" cy="457200"/>
          </a:xfrm>
          <a:prstGeom prst="rect">
            <a:avLst/>
          </a:prstGeom>
          <a:noFill/>
          <a:ln/>
        </p:spPr>
        <p:txBody>
          <a:bodyPr wrap="square" lIns="0" tIns="0" rIns="0" bIns="0" rtlCol="0" anchor="t"/>
          <a:lstStyle/>
          <a:p>
            <a:pPr marL="0" indent="0">
              <a:buNone/>
            </a:pPr>
            <a:r>
              <a:rPr lang="en-US" sz="1900" dirty="0">
                <a:solidFill>
                  <a:srgbClr val="C9DEDA"/>
                </a:solidFill>
                <a:latin typeface="Calibri" pitchFamily="34" charset="0"/>
                <a:ea typeface="Calibri" pitchFamily="34" charset="-122"/>
                <a:cs typeface="Calibri" pitchFamily="34" charset="-120"/>
              </a:rPr>
              <a:t>Closing the last mile between a genomic result and a person's care.</a:t>
            </a:r>
            <a:endParaRPr lang="en-US" sz="1900" dirty="0"/>
          </a:p>
        </p:txBody>
      </p:sp>
      <p:sp>
        <p:nvSpPr>
          <p:cNvPr id="7" name="Text 5"/>
          <p:cNvSpPr/>
          <p:nvPr/>
        </p:nvSpPr>
        <p:spPr>
          <a:xfrm>
            <a:off x="640080" y="4526280"/>
            <a:ext cx="8229600" cy="731520"/>
          </a:xfrm>
          <a:prstGeom prst="rect">
            <a:avLst/>
          </a:prstGeom>
          <a:noFill/>
          <a:ln/>
        </p:spPr>
        <p:txBody>
          <a:bodyPr wrap="square" lIns="0" tIns="0" rIns="0" bIns="0" rtlCol="0" anchor="t"/>
          <a:lstStyle/>
          <a:p>
            <a:pPr marL="0" indent="0">
              <a:lnSpc>
                <a:spcPts val="2000"/>
              </a:lnSpc>
              <a:buNone/>
            </a:pPr>
            <a:r>
              <a:rPr lang="en-US" sz="1350" dirty="0">
                <a:solidFill>
                  <a:srgbClr val="C9DEDA"/>
                </a:solidFill>
                <a:latin typeface="Calibri" pitchFamily="34" charset="0"/>
                <a:ea typeface="Calibri" pitchFamily="34" charset="-122"/>
                <a:cs typeface="Calibri" pitchFamily="34" charset="-120"/>
              </a:rPr>
              <a:t>A genetic test report in. A plain-language explanation and the published, actionable</a:t>
            </a:r>
            <a:endParaRPr lang="en-US" sz="1350" dirty="0"/>
          </a:p>
          <a:p>
            <a:pPr marL="0" indent="0">
              <a:lnSpc>
                <a:spcPts val="2000"/>
              </a:lnSpc>
              <a:buNone/>
            </a:pPr>
            <a:r>
              <a:rPr lang="en-US" sz="1350" dirty="0">
                <a:solidFill>
                  <a:srgbClr val="C9DEDA"/>
                </a:solidFill>
                <a:latin typeface="Calibri" pitchFamily="34" charset="0"/>
                <a:ea typeface="Calibri" pitchFamily="34" charset="-122"/>
                <a:cs typeface="Calibri" pitchFamily="34" charset="-120"/>
              </a:rPr>
              <a:t>care implications out — in two registers, one for the family and one for the clinician.</a:t>
            </a:r>
            <a:endParaRPr lang="en-US" sz="1350" dirty="0"/>
          </a:p>
        </p:txBody>
      </p:sp>
      <p:sp>
        <p:nvSpPr>
          <p:cNvPr id="8" name="Text 6"/>
          <p:cNvSpPr/>
          <p:nvPr/>
        </p:nvSpPr>
        <p:spPr>
          <a:xfrm>
            <a:off x="640080" y="5943600"/>
            <a:ext cx="10908792" cy="274320"/>
          </a:xfrm>
          <a:prstGeom prst="rect">
            <a:avLst/>
          </a:prstGeom>
          <a:noFill/>
          <a:ln/>
        </p:spPr>
        <p:txBody>
          <a:bodyPr wrap="square" lIns="0" tIns="0" rIns="0" bIns="0" rtlCol="0" anchor="ctr"/>
          <a:lstStyle/>
          <a:p>
            <a:pPr marL="0" indent="0">
              <a:buNone/>
            </a:pPr>
            <a:r>
              <a:rPr lang="en-US" sz="1100" dirty="0">
                <a:solidFill>
                  <a:srgbClr val="3E8F86"/>
                </a:solidFill>
                <a:latin typeface="Calibri" pitchFamily="34" charset="0"/>
                <a:ea typeface="Calibri" pitchFamily="34" charset="-122"/>
                <a:cs typeface="Calibri" pitchFamily="34" charset="-120"/>
              </a:rPr>
              <a:t>Apache 2.0 (scripts)  ·  CC BY 4.0 (clinical content)  ·  Python 3.10+</a:t>
            </a:r>
          </a:p>
          <a:p>
            <a:r>
              <a:rPr lang="en-US" sz="1100" dirty="0">
                <a:solidFill>
                  <a:srgbClr val="3E8F86"/>
                </a:solidFill>
                <a:latin typeface="Calibri" pitchFamily="34" charset="0"/>
                <a:cs typeface="Calibri" pitchFamily="34" charset="-120"/>
              </a:rPr>
              <a:t>GitHub Repository: </a:t>
            </a:r>
            <a:r>
              <a:rPr lang="en-US" sz="1100" dirty="0">
                <a:solidFill>
                  <a:srgbClr val="3E8F86"/>
                </a:solidFill>
                <a:latin typeface="Calibri" pitchFamily="34" charset="0"/>
                <a:cs typeface="Calibri" pitchFamily="34" charset="-120"/>
                <a:hlinkClick r:id="rId3"/>
              </a:rPr>
              <a:t>https://github.com/Domikohlh/autism_gtc_agent_skill</a:t>
            </a:r>
            <a:r>
              <a:rPr lang="en-US" sz="1100" dirty="0">
                <a:solidFill>
                  <a:srgbClr val="3E8F86"/>
                </a:solidFill>
                <a:latin typeface="Calibri" pitchFamily="34" charset="0"/>
                <a:cs typeface="Calibri" pitchFamily="34" charset="-120"/>
              </a:rPr>
              <a:t> </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640080" y="457200"/>
            <a:ext cx="10908792" cy="777240"/>
          </a:xfrm>
          <a:prstGeom prst="rect">
            <a:avLst/>
          </a:prstGeom>
          <a:noFill/>
          <a:ln/>
        </p:spPr>
        <p:txBody>
          <a:bodyPr wrap="square" lIns="0" tIns="0" rIns="0" bIns="0" rtlCol="0" anchor="ctr"/>
          <a:lstStyle/>
          <a:p>
            <a:pPr marL="0" indent="0" algn="l">
              <a:buNone/>
            </a:pPr>
            <a:r>
              <a:rPr lang="en-US" sz="3800" b="1" dirty="0">
                <a:solidFill>
                  <a:srgbClr val="1B2A2C"/>
                </a:solidFill>
                <a:latin typeface="Cambria" pitchFamily="34" charset="0"/>
                <a:ea typeface="Cambria" pitchFamily="34" charset="-122"/>
                <a:cs typeface="Cambria" pitchFamily="34" charset="-120"/>
              </a:rPr>
              <a:t>The information exists. It is not delivered.</a:t>
            </a:r>
            <a:endParaRPr lang="en-US" sz="3800" dirty="0"/>
          </a:p>
        </p:txBody>
      </p:sp>
      <p:sp>
        <p:nvSpPr>
          <p:cNvPr id="4" name="Shape 2"/>
          <p:cNvSpPr/>
          <p:nvPr/>
        </p:nvSpPr>
        <p:spPr>
          <a:xfrm>
            <a:off x="640080" y="1600200"/>
            <a:ext cx="5029200" cy="2788920"/>
          </a:xfrm>
          <a:prstGeom prst="roundRect">
            <a:avLst>
              <a:gd name="adj" fmla="val 1967"/>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5" name="Text 3"/>
          <p:cNvSpPr/>
          <p:nvPr/>
        </p:nvSpPr>
        <p:spPr>
          <a:xfrm>
            <a:off x="1051560" y="1874520"/>
            <a:ext cx="4206240" cy="1143000"/>
          </a:xfrm>
          <a:prstGeom prst="rect">
            <a:avLst/>
          </a:prstGeom>
          <a:noFill/>
          <a:ln/>
        </p:spPr>
        <p:txBody>
          <a:bodyPr wrap="square" lIns="0" tIns="0" rIns="0" bIns="0" rtlCol="0" anchor="ctr"/>
          <a:lstStyle/>
          <a:p>
            <a:pPr marL="0" indent="0">
              <a:buNone/>
            </a:pPr>
            <a:r>
              <a:rPr lang="en-US" sz="7200" b="1" dirty="0">
                <a:solidFill>
                  <a:srgbClr val="0E3B3E"/>
                </a:solidFill>
                <a:latin typeface="Cambria" pitchFamily="34" charset="0"/>
                <a:ea typeface="Cambria" pitchFamily="34" charset="-122"/>
                <a:cs typeface="Cambria" pitchFamily="34" charset="-120"/>
              </a:rPr>
              <a:t>11.3%</a:t>
            </a:r>
            <a:endParaRPr lang="en-US" sz="7200" dirty="0"/>
          </a:p>
        </p:txBody>
      </p:sp>
      <p:sp>
        <p:nvSpPr>
          <p:cNvPr id="6" name="Text 4"/>
          <p:cNvSpPr/>
          <p:nvPr/>
        </p:nvSpPr>
        <p:spPr>
          <a:xfrm>
            <a:off x="1051560" y="3017520"/>
            <a:ext cx="4251960" cy="868680"/>
          </a:xfrm>
          <a:prstGeom prst="rect">
            <a:avLst/>
          </a:prstGeom>
          <a:noFill/>
          <a:ln/>
        </p:spPr>
        <p:txBody>
          <a:bodyPr wrap="square" lIns="0" tIns="0" rIns="0" bIns="0" rtlCol="0" anchor="t"/>
          <a:lstStyle/>
          <a:p>
            <a:pPr marL="0" indent="0">
              <a:lnSpc>
                <a:spcPts val="2100"/>
              </a:lnSpc>
              <a:buNone/>
            </a:pPr>
            <a:r>
              <a:rPr lang="en-US" sz="1500" dirty="0">
                <a:solidFill>
                  <a:srgbClr val="1B2A2C"/>
                </a:solidFill>
                <a:latin typeface="Calibri" pitchFamily="34" charset="0"/>
                <a:ea typeface="Calibri" pitchFamily="34" charset="-122"/>
                <a:cs typeface="Calibri" pitchFamily="34" charset="-120"/>
              </a:rPr>
              <a:t>of people evaluated for autism or a neurodevelopmental disorder receive guideline-concordant genetic testing at all.</a:t>
            </a:r>
            <a:endParaRPr lang="en-US" sz="1500" dirty="0"/>
          </a:p>
        </p:txBody>
      </p:sp>
      <p:sp>
        <p:nvSpPr>
          <p:cNvPr id="7" name="Text 5"/>
          <p:cNvSpPr/>
          <p:nvPr/>
        </p:nvSpPr>
        <p:spPr>
          <a:xfrm>
            <a:off x="1051560" y="3913632"/>
            <a:ext cx="4251960" cy="274320"/>
          </a:xfrm>
          <a:prstGeom prst="rect">
            <a:avLst/>
          </a:prstGeom>
          <a:noFill/>
          <a:ln/>
        </p:spPr>
        <p:txBody>
          <a:bodyPr wrap="square" lIns="0" tIns="0" rIns="0" bIns="0" rtlCol="0" anchor="ctr"/>
          <a:lstStyle/>
          <a:p>
            <a:pPr marL="0" indent="0">
              <a:buNone/>
            </a:pPr>
            <a:r>
              <a:rPr lang="en-US" sz="1050" i="1" dirty="0">
                <a:solidFill>
                  <a:srgbClr val="5F7274"/>
                </a:solidFill>
                <a:latin typeface="Calibri" pitchFamily="34" charset="0"/>
                <a:ea typeface="Calibri" pitchFamily="34" charset="-122"/>
                <a:cs typeface="Calibri" pitchFamily="34" charset="-120"/>
              </a:rPr>
              <a:t>Arcebido et al., Autism, 2025  ·  7,539 EHRs</a:t>
            </a:r>
            <a:endParaRPr lang="en-US" sz="1050" dirty="0"/>
          </a:p>
        </p:txBody>
      </p:sp>
      <p:sp>
        <p:nvSpPr>
          <p:cNvPr id="8" name="Shape 6"/>
          <p:cNvSpPr/>
          <p:nvPr/>
        </p:nvSpPr>
        <p:spPr>
          <a:xfrm>
            <a:off x="6126480" y="1600200"/>
            <a:ext cx="5422392" cy="1298448"/>
          </a:xfrm>
          <a:prstGeom prst="roundRect">
            <a:avLst>
              <a:gd name="adj" fmla="val 4225"/>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9" name="Shape 7"/>
          <p:cNvSpPr/>
          <p:nvPr/>
        </p:nvSpPr>
        <p:spPr>
          <a:xfrm>
            <a:off x="6446520" y="1901952"/>
            <a:ext cx="384048" cy="384048"/>
          </a:xfrm>
          <a:prstGeom prst="ellipse">
            <a:avLst/>
          </a:prstGeom>
          <a:solidFill>
            <a:srgbClr val="C25A28"/>
          </a:solidFill>
          <a:ln w="12700">
            <a:solidFill>
              <a:srgbClr val="C25A28"/>
            </a:solidFill>
            <a:prstDash val="solid"/>
          </a:ln>
        </p:spPr>
        <p:txBody>
          <a:bodyPr/>
          <a:lstStyle/>
          <a:p>
            <a:endParaRPr lang="en-US"/>
          </a:p>
        </p:txBody>
      </p:sp>
      <p:sp>
        <p:nvSpPr>
          <p:cNvPr id="10" name="Text 8"/>
          <p:cNvSpPr/>
          <p:nvPr/>
        </p:nvSpPr>
        <p:spPr>
          <a:xfrm>
            <a:off x="6446520" y="19019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6967728" y="1828800"/>
            <a:ext cx="4343400" cy="868680"/>
          </a:xfrm>
          <a:prstGeom prst="rect">
            <a:avLst/>
          </a:prstGeom>
          <a:noFill/>
          <a:ln/>
        </p:spPr>
        <p:txBody>
          <a:bodyPr wrap="square" lIns="0" tIns="0" rIns="0" bIns="0" rtlCol="0" anchor="ctr"/>
          <a:lstStyle/>
          <a:p>
            <a:pPr marL="0" indent="0">
              <a:lnSpc>
                <a:spcPts val="2100"/>
              </a:lnSpc>
              <a:buNone/>
            </a:pPr>
            <a:r>
              <a:rPr lang="en-US" sz="1550" b="1" dirty="0">
                <a:solidFill>
                  <a:srgbClr val="1B2A2C"/>
                </a:solidFill>
                <a:latin typeface="Calibri" pitchFamily="34" charset="0"/>
                <a:ea typeface="Calibri" pitchFamily="34" charset="-122"/>
                <a:cs typeface="Calibri" pitchFamily="34" charset="-120"/>
              </a:rPr>
              <a:t>The barriers were insurance status and race — not clinical need.</a:t>
            </a:r>
            <a:endParaRPr lang="en-US" sz="1550" dirty="0"/>
          </a:p>
        </p:txBody>
      </p:sp>
      <p:sp>
        <p:nvSpPr>
          <p:cNvPr id="12" name="Shape 10"/>
          <p:cNvSpPr/>
          <p:nvPr/>
        </p:nvSpPr>
        <p:spPr>
          <a:xfrm>
            <a:off x="6126480" y="3090672"/>
            <a:ext cx="5422392" cy="1298448"/>
          </a:xfrm>
          <a:prstGeom prst="roundRect">
            <a:avLst>
              <a:gd name="adj" fmla="val 4225"/>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13" name="Shape 11"/>
          <p:cNvSpPr/>
          <p:nvPr/>
        </p:nvSpPr>
        <p:spPr>
          <a:xfrm>
            <a:off x="6446520" y="3392424"/>
            <a:ext cx="384048" cy="384048"/>
          </a:xfrm>
          <a:prstGeom prst="ellipse">
            <a:avLst/>
          </a:prstGeom>
          <a:solidFill>
            <a:srgbClr val="C25A28"/>
          </a:solidFill>
          <a:ln w="12700">
            <a:solidFill>
              <a:srgbClr val="C25A28"/>
            </a:solidFill>
            <a:prstDash val="solid"/>
          </a:ln>
        </p:spPr>
        <p:txBody>
          <a:bodyPr/>
          <a:lstStyle/>
          <a:p>
            <a:endParaRPr lang="en-US"/>
          </a:p>
        </p:txBody>
      </p:sp>
      <p:sp>
        <p:nvSpPr>
          <p:cNvPr id="14" name="Text 12"/>
          <p:cNvSpPr/>
          <p:nvPr/>
        </p:nvSpPr>
        <p:spPr>
          <a:xfrm>
            <a:off x="6446520" y="3392424"/>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6967728" y="3319272"/>
            <a:ext cx="4343400" cy="868680"/>
          </a:xfrm>
          <a:prstGeom prst="rect">
            <a:avLst/>
          </a:prstGeom>
          <a:noFill/>
          <a:ln/>
        </p:spPr>
        <p:txBody>
          <a:bodyPr wrap="square" lIns="0" tIns="0" rIns="0" bIns="0" rtlCol="0" anchor="ctr"/>
          <a:lstStyle/>
          <a:p>
            <a:pPr marL="0" indent="0">
              <a:lnSpc>
                <a:spcPts val="2100"/>
              </a:lnSpc>
              <a:buNone/>
            </a:pPr>
            <a:r>
              <a:rPr lang="en-US" sz="1550" b="1" dirty="0">
                <a:solidFill>
                  <a:srgbClr val="1B2A2C"/>
                </a:solidFill>
                <a:latin typeface="Calibri" pitchFamily="34" charset="0"/>
                <a:ea typeface="Calibri" pitchFamily="34" charset="-122"/>
                <a:cs typeface="Calibri" pitchFamily="34" charset="-120"/>
              </a:rPr>
              <a:t>Among those who are tested, the published care implications routinely never reach them.</a:t>
            </a:r>
            <a:endParaRPr lang="en-US" sz="1550" dirty="0"/>
          </a:p>
        </p:txBody>
      </p:sp>
      <p:sp>
        <p:nvSpPr>
          <p:cNvPr id="16" name="Shape 14"/>
          <p:cNvSpPr/>
          <p:nvPr/>
        </p:nvSpPr>
        <p:spPr>
          <a:xfrm>
            <a:off x="640080" y="4663440"/>
            <a:ext cx="10908792" cy="1298448"/>
          </a:xfrm>
          <a:prstGeom prst="roundRect">
            <a:avLst>
              <a:gd name="adj" fmla="val 4225"/>
            </a:avLst>
          </a:prstGeom>
          <a:solidFill>
            <a:srgbClr val="0E3B3E"/>
          </a:solidFill>
          <a:ln w="12700">
            <a:solidFill>
              <a:srgbClr val="0E3B3E"/>
            </a:solidFill>
            <a:prstDash val="solid"/>
          </a:ln>
        </p:spPr>
        <p:txBody>
          <a:bodyPr/>
          <a:lstStyle/>
          <a:p>
            <a:endParaRPr lang="en-US"/>
          </a:p>
        </p:txBody>
      </p:sp>
      <p:sp>
        <p:nvSpPr>
          <p:cNvPr id="17" name="Text 15"/>
          <p:cNvSpPr/>
          <p:nvPr/>
        </p:nvSpPr>
        <p:spPr>
          <a:xfrm>
            <a:off x="1097280" y="4828032"/>
            <a:ext cx="10058400" cy="45720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This tool addresses the delivery of information, not the methodology.</a:t>
            </a:r>
            <a:endParaRPr lang="en-US" sz="2200" dirty="0"/>
          </a:p>
        </p:txBody>
      </p:sp>
      <p:sp>
        <p:nvSpPr>
          <p:cNvPr id="18" name="Text 16"/>
          <p:cNvSpPr/>
          <p:nvPr/>
        </p:nvSpPr>
        <p:spPr>
          <a:xfrm>
            <a:off x="1097280" y="5321808"/>
            <a:ext cx="10058400" cy="365760"/>
          </a:xfrm>
          <a:prstGeom prst="rect">
            <a:avLst/>
          </a:prstGeom>
          <a:noFill/>
          <a:ln/>
        </p:spPr>
        <p:txBody>
          <a:bodyPr wrap="square" lIns="0" tIns="0" rIns="0" bIns="0" rtlCol="0" anchor="ctr"/>
          <a:lstStyle/>
          <a:p>
            <a:pPr marL="0" indent="0">
              <a:buNone/>
            </a:pPr>
            <a:r>
              <a:rPr lang="en-US" sz="1300" dirty="0">
                <a:solidFill>
                  <a:srgbClr val="C9DEDA"/>
                </a:solidFill>
                <a:latin typeface="Calibri" pitchFamily="34" charset="0"/>
                <a:ea typeface="Calibri" pitchFamily="34" charset="-122"/>
                <a:cs typeface="Calibri" pitchFamily="34" charset="-120"/>
              </a:rPr>
              <a:t>Nobody needs another classifier. The published guidance is already sitting there, unread, at the moment a family is most able to act on it.</a:t>
            </a:r>
            <a:endParaRPr lang="en-US" sz="1300" dirty="0"/>
          </a:p>
        </p:txBody>
      </p:sp>
      <p:sp>
        <p:nvSpPr>
          <p:cNvPr id="20" name="Text 17"/>
          <p:cNvSpPr/>
          <p:nvPr/>
        </p:nvSpPr>
        <p:spPr>
          <a:xfrm>
            <a:off x="640080" y="6327648"/>
            <a:ext cx="10908792" cy="274320"/>
          </a:xfrm>
          <a:prstGeom prst="rect">
            <a:avLst/>
          </a:prstGeom>
          <a:noFill/>
          <a:ln/>
        </p:spPr>
        <p:txBody>
          <a:bodyPr wrap="square" lIns="0" tIns="0" rIns="0" bIns="0" rtlCol="0" anchor="ctr"/>
          <a:lstStyle/>
          <a:p>
            <a:pPr marL="0" indent="0">
              <a:buNone/>
            </a:pPr>
            <a:r>
              <a:rPr lang="en-US" sz="1000" i="1" dirty="0">
                <a:solidFill>
                  <a:srgbClr val="5F7274"/>
                </a:solidFill>
                <a:latin typeface="Calibri" pitchFamily="34" charset="0"/>
                <a:ea typeface="Calibri" pitchFamily="34" charset="-122"/>
                <a:cs typeface="Calibri" pitchFamily="34" charset="-120"/>
              </a:rPr>
              <a:t>Sources: Arcebido et al., Autism, 2025.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3B3E"/>
        </a:solidFill>
        <a:effectLst/>
      </p:bgPr>
    </p:bg>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WHAT THE GAP COSTS</a:t>
            </a:r>
            <a:endParaRPr lang="en-US" sz="1100" dirty="0"/>
          </a:p>
        </p:txBody>
      </p:sp>
      <p:sp>
        <p:nvSpPr>
          <p:cNvPr id="3" name="Text 1"/>
          <p:cNvSpPr/>
          <p:nvPr/>
        </p:nvSpPr>
        <p:spPr>
          <a:xfrm>
            <a:off x="640080" y="457200"/>
            <a:ext cx="10908792" cy="777240"/>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Two findings. Two decisions already published.</a:t>
            </a:r>
            <a:endParaRPr lang="en-US" sz="3800" dirty="0"/>
          </a:p>
        </p:txBody>
      </p:sp>
      <p:sp>
        <p:nvSpPr>
          <p:cNvPr id="4" name="Shape 2"/>
          <p:cNvSpPr/>
          <p:nvPr/>
        </p:nvSpPr>
        <p:spPr>
          <a:xfrm>
            <a:off x="640080" y="1691640"/>
            <a:ext cx="5303520" cy="2697480"/>
          </a:xfrm>
          <a:prstGeom prst="roundRect">
            <a:avLst>
              <a:gd name="adj" fmla="val 2034"/>
            </a:avLst>
          </a:prstGeom>
          <a:solidFill>
            <a:srgbClr val="17565A"/>
          </a:solidFill>
          <a:ln w="12700">
            <a:solidFill>
              <a:srgbClr val="17565A"/>
            </a:solidFill>
            <a:prstDash val="solid"/>
          </a:ln>
        </p:spPr>
        <p:txBody>
          <a:bodyPr/>
          <a:lstStyle/>
          <a:p>
            <a:endParaRPr lang="en-US"/>
          </a:p>
        </p:txBody>
      </p:sp>
      <p:sp>
        <p:nvSpPr>
          <p:cNvPr id="5" name="Text 3"/>
          <p:cNvSpPr/>
          <p:nvPr/>
        </p:nvSpPr>
        <p:spPr>
          <a:xfrm>
            <a:off x="1097280" y="1920240"/>
            <a:ext cx="438912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PTEN</a:t>
            </a:r>
            <a:endParaRPr lang="en-US" sz="2600" dirty="0"/>
          </a:p>
        </p:txBody>
      </p:sp>
      <p:sp>
        <p:nvSpPr>
          <p:cNvPr id="6" name="Text 4"/>
          <p:cNvSpPr/>
          <p:nvPr/>
        </p:nvSpPr>
        <p:spPr>
          <a:xfrm>
            <a:off x="1097280" y="2450592"/>
            <a:ext cx="4389120" cy="914400"/>
          </a:xfrm>
          <a:prstGeom prst="rect">
            <a:avLst/>
          </a:prstGeom>
          <a:noFill/>
          <a:ln/>
        </p:spPr>
        <p:txBody>
          <a:bodyPr wrap="square" lIns="0" tIns="0" rIns="0" bIns="0" rtlCol="0" anchor="t"/>
          <a:lstStyle/>
          <a:p>
            <a:pPr marL="0" indent="0">
              <a:lnSpc>
                <a:spcPts val="2100"/>
              </a:lnSpc>
              <a:buNone/>
            </a:pPr>
            <a:r>
              <a:rPr lang="en-US" sz="1500" dirty="0">
                <a:solidFill>
                  <a:srgbClr val="C9DEDA"/>
                </a:solidFill>
                <a:latin typeface="Calibri" pitchFamily="34" charset="0"/>
                <a:ea typeface="Calibri" pitchFamily="34" charset="-122"/>
                <a:cs typeface="Calibri" pitchFamily="34" charset="-120"/>
              </a:rPr>
              <a:t>A pathogenic variant carries a published surveillance protocol that begins in childhood — thyroid, renal and more.</a:t>
            </a:r>
            <a:endParaRPr lang="en-US" sz="1500" dirty="0"/>
          </a:p>
        </p:txBody>
      </p:sp>
      <p:sp>
        <p:nvSpPr>
          <p:cNvPr id="7" name="Text 5"/>
          <p:cNvSpPr/>
          <p:nvPr/>
        </p:nvSpPr>
        <p:spPr>
          <a:xfrm>
            <a:off x="1097280" y="3429000"/>
            <a:ext cx="4389120" cy="914400"/>
          </a:xfrm>
          <a:prstGeom prst="rect">
            <a:avLst/>
          </a:prstGeom>
          <a:noFill/>
          <a:ln/>
        </p:spPr>
        <p:txBody>
          <a:bodyPr wrap="square" lIns="0" tIns="0" rIns="0" bIns="0" rtlCol="0" anchor="t"/>
          <a:lstStyle/>
          <a:p>
            <a:pPr marL="0" indent="0">
              <a:lnSpc>
                <a:spcPts val="2100"/>
              </a:lnSpc>
              <a:buNone/>
            </a:pPr>
            <a:r>
              <a:rPr lang="en-US" sz="1500" b="1" dirty="0">
                <a:solidFill>
                  <a:srgbClr val="FFFFFF"/>
                </a:solidFill>
                <a:latin typeface="Calibri" pitchFamily="34" charset="0"/>
                <a:ea typeface="Calibri" pitchFamily="34" charset="-122"/>
                <a:cs typeface="Calibri" pitchFamily="34" charset="-120"/>
              </a:rPr>
              <a:t>Families are told about the developmental gene and hear nothing about the surveillance.</a:t>
            </a:r>
            <a:endParaRPr lang="en-US" sz="1500" dirty="0"/>
          </a:p>
        </p:txBody>
      </p:sp>
      <p:sp>
        <p:nvSpPr>
          <p:cNvPr id="8" name="Shape 6"/>
          <p:cNvSpPr/>
          <p:nvPr/>
        </p:nvSpPr>
        <p:spPr>
          <a:xfrm>
            <a:off x="6217920" y="1691640"/>
            <a:ext cx="5330952" cy="2697480"/>
          </a:xfrm>
          <a:prstGeom prst="roundRect">
            <a:avLst>
              <a:gd name="adj" fmla="val 2034"/>
            </a:avLst>
          </a:prstGeom>
          <a:solidFill>
            <a:srgbClr val="17565A"/>
          </a:solidFill>
          <a:ln w="12700">
            <a:solidFill>
              <a:srgbClr val="17565A"/>
            </a:solidFill>
            <a:prstDash val="solid"/>
          </a:ln>
        </p:spPr>
        <p:txBody>
          <a:bodyPr/>
          <a:lstStyle/>
          <a:p>
            <a:endParaRPr lang="en-US"/>
          </a:p>
        </p:txBody>
      </p:sp>
      <p:sp>
        <p:nvSpPr>
          <p:cNvPr id="9" name="Text 7"/>
          <p:cNvSpPr/>
          <p:nvPr/>
        </p:nvSpPr>
        <p:spPr>
          <a:xfrm>
            <a:off x="6675120" y="1920240"/>
            <a:ext cx="4389120" cy="45720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SCN2A</a:t>
            </a:r>
            <a:endParaRPr lang="en-US" sz="2600" dirty="0"/>
          </a:p>
        </p:txBody>
      </p:sp>
      <p:sp>
        <p:nvSpPr>
          <p:cNvPr id="10" name="Text 8"/>
          <p:cNvSpPr/>
          <p:nvPr/>
        </p:nvSpPr>
        <p:spPr>
          <a:xfrm>
            <a:off x="6675120" y="2450592"/>
            <a:ext cx="4434840" cy="777240"/>
          </a:xfrm>
          <a:prstGeom prst="rect">
            <a:avLst/>
          </a:prstGeom>
          <a:noFill/>
          <a:ln/>
        </p:spPr>
        <p:txBody>
          <a:bodyPr wrap="square" lIns="0" tIns="0" rIns="0" bIns="0" rtlCol="0" anchor="t"/>
          <a:lstStyle/>
          <a:p>
            <a:pPr marL="0" indent="0">
              <a:lnSpc>
                <a:spcPts val="2100"/>
              </a:lnSpc>
              <a:buNone/>
            </a:pPr>
            <a:r>
              <a:rPr lang="en-US" sz="1500" dirty="0">
                <a:solidFill>
                  <a:srgbClr val="C9DEDA"/>
                </a:solidFill>
                <a:latin typeface="Calibri" pitchFamily="34" charset="0"/>
                <a:ea typeface="Calibri" pitchFamily="34" charset="-122"/>
                <a:cs typeface="Calibri" pitchFamily="34" charset="-120"/>
              </a:rPr>
              <a:t>The variant's direction of effect decides which seizure medication works. Good-to-excellent phenytoin response:</a:t>
            </a:r>
            <a:endParaRPr lang="en-US" sz="1500" dirty="0"/>
          </a:p>
        </p:txBody>
      </p:sp>
      <p:sp>
        <p:nvSpPr>
          <p:cNvPr id="11" name="Text 9"/>
          <p:cNvSpPr/>
          <p:nvPr/>
        </p:nvSpPr>
        <p:spPr>
          <a:xfrm>
            <a:off x="6675120" y="3246120"/>
            <a:ext cx="1828800" cy="77724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94%</a:t>
            </a:r>
            <a:endParaRPr lang="en-US" sz="4600" dirty="0"/>
          </a:p>
        </p:txBody>
      </p:sp>
      <p:sp>
        <p:nvSpPr>
          <p:cNvPr id="12" name="Text 10"/>
          <p:cNvSpPr/>
          <p:nvPr/>
        </p:nvSpPr>
        <p:spPr>
          <a:xfrm>
            <a:off x="6675120" y="4005072"/>
            <a:ext cx="2011680" cy="274320"/>
          </a:xfrm>
          <a:prstGeom prst="rect">
            <a:avLst/>
          </a:prstGeom>
          <a:noFill/>
          <a:ln/>
        </p:spPr>
        <p:txBody>
          <a:bodyPr wrap="square" lIns="0" tIns="0" rIns="0" bIns="0" rtlCol="0" anchor="ctr"/>
          <a:lstStyle/>
          <a:p>
            <a:pPr marL="0" indent="0">
              <a:buNone/>
            </a:pPr>
            <a:r>
              <a:rPr lang="en-US" sz="1200" dirty="0">
                <a:solidFill>
                  <a:srgbClr val="C9DEDA"/>
                </a:solidFill>
                <a:latin typeface="Calibri" pitchFamily="34" charset="0"/>
                <a:ea typeface="Calibri" pitchFamily="34" charset="-122"/>
                <a:cs typeface="Calibri" pitchFamily="34" charset="-120"/>
              </a:rPr>
              <a:t>gain-of-function</a:t>
            </a:r>
            <a:endParaRPr lang="en-US" sz="1200" dirty="0"/>
          </a:p>
        </p:txBody>
      </p:sp>
      <p:sp>
        <p:nvSpPr>
          <p:cNvPr id="13" name="Text 11"/>
          <p:cNvSpPr/>
          <p:nvPr/>
        </p:nvSpPr>
        <p:spPr>
          <a:xfrm>
            <a:off x="8915400" y="3246120"/>
            <a:ext cx="1828800" cy="777240"/>
          </a:xfrm>
          <a:prstGeom prst="rect">
            <a:avLst/>
          </a:prstGeom>
          <a:noFill/>
          <a:ln/>
        </p:spPr>
        <p:txBody>
          <a:bodyPr wrap="square" lIns="0" tIns="0" rIns="0" bIns="0" rtlCol="0" anchor="ctr"/>
          <a:lstStyle/>
          <a:p>
            <a:pPr marL="0" indent="0">
              <a:buNone/>
            </a:pPr>
            <a:r>
              <a:rPr lang="en-US" sz="4600" b="1" dirty="0">
                <a:solidFill>
                  <a:srgbClr val="C25A28"/>
                </a:solidFill>
                <a:latin typeface="Cambria" pitchFamily="34" charset="0"/>
                <a:ea typeface="Cambria" pitchFamily="34" charset="-122"/>
                <a:cs typeface="Cambria" pitchFamily="34" charset="-120"/>
              </a:rPr>
              <a:t>0%</a:t>
            </a:r>
            <a:endParaRPr lang="en-US" sz="4600" dirty="0"/>
          </a:p>
        </p:txBody>
      </p:sp>
      <p:sp>
        <p:nvSpPr>
          <p:cNvPr id="14" name="Text 12"/>
          <p:cNvSpPr/>
          <p:nvPr/>
        </p:nvSpPr>
        <p:spPr>
          <a:xfrm>
            <a:off x="8915400" y="4005072"/>
            <a:ext cx="2011680" cy="274320"/>
          </a:xfrm>
          <a:prstGeom prst="rect">
            <a:avLst/>
          </a:prstGeom>
          <a:noFill/>
          <a:ln/>
        </p:spPr>
        <p:txBody>
          <a:bodyPr wrap="square" lIns="0" tIns="0" rIns="0" bIns="0" rtlCol="0" anchor="ctr"/>
          <a:lstStyle/>
          <a:p>
            <a:pPr marL="0" indent="0">
              <a:buNone/>
            </a:pPr>
            <a:r>
              <a:rPr lang="en-US" sz="1200" dirty="0">
                <a:solidFill>
                  <a:srgbClr val="C9DEDA"/>
                </a:solidFill>
                <a:latin typeface="Calibri" pitchFamily="34" charset="0"/>
                <a:ea typeface="Calibri" pitchFamily="34" charset="-122"/>
                <a:cs typeface="Calibri" pitchFamily="34" charset="-120"/>
              </a:rPr>
              <a:t>loss-of-function</a:t>
            </a:r>
            <a:endParaRPr lang="en-US" sz="1200" dirty="0"/>
          </a:p>
        </p:txBody>
      </p:sp>
      <p:sp>
        <p:nvSpPr>
          <p:cNvPr id="15" name="Text 13"/>
          <p:cNvSpPr/>
          <p:nvPr/>
        </p:nvSpPr>
        <p:spPr>
          <a:xfrm>
            <a:off x="640080" y="4800600"/>
            <a:ext cx="10908792" cy="548640"/>
          </a:xfrm>
          <a:prstGeom prst="rect">
            <a:avLst/>
          </a:prstGeom>
          <a:noFill/>
          <a:ln/>
        </p:spPr>
        <p:txBody>
          <a:bodyPr wrap="square" lIns="0" tIns="0" rIns="0" bIns="0" rtlCol="0" anchor="t"/>
          <a:lstStyle/>
          <a:p>
            <a:pPr marL="0" indent="0">
              <a:lnSpc>
                <a:spcPts val="2600"/>
              </a:lnSpc>
              <a:buNone/>
            </a:pPr>
            <a:r>
              <a:rPr lang="en-US" sz="1900" b="1" dirty="0">
                <a:solidFill>
                  <a:srgbClr val="FFFFFF"/>
                </a:solidFill>
                <a:latin typeface="Cambria" pitchFamily="34" charset="0"/>
                <a:ea typeface="Cambria" pitchFamily="34" charset="-122"/>
                <a:cs typeface="Cambria" pitchFamily="34" charset="-120"/>
              </a:rPr>
              <a:t>Neither of these is a prediction, a model output, or a novel claim. Both are published, and both are routinely never passed on.</a:t>
            </a:r>
            <a:endParaRPr lang="en-US" sz="1900" dirty="0"/>
          </a:p>
        </p:txBody>
      </p:sp>
      <p:sp>
        <p:nvSpPr>
          <p:cNvPr id="16" name="Text 14"/>
          <p:cNvSpPr/>
          <p:nvPr/>
        </p:nvSpPr>
        <p:spPr>
          <a:xfrm>
            <a:off x="640080" y="6327648"/>
            <a:ext cx="10908792" cy="274320"/>
          </a:xfrm>
          <a:prstGeom prst="rect">
            <a:avLst/>
          </a:prstGeom>
          <a:noFill/>
          <a:ln/>
        </p:spPr>
        <p:txBody>
          <a:bodyPr wrap="square" lIns="0" tIns="0" rIns="0" bIns="0" rtlCol="0" anchor="ctr"/>
          <a:lstStyle/>
          <a:p>
            <a:pPr marL="0" indent="0">
              <a:buNone/>
            </a:pPr>
            <a:r>
              <a:rPr lang="en-US" sz="1000" i="1" dirty="0">
                <a:solidFill>
                  <a:srgbClr val="C9DEDA"/>
                </a:solidFill>
                <a:latin typeface="Calibri" pitchFamily="34" charset="0"/>
                <a:ea typeface="Calibri" pitchFamily="34" charset="-122"/>
                <a:cs typeface="Calibri" pitchFamily="34" charset="-120"/>
              </a:rPr>
              <a:t>Sources: International PHTS Consensus, Clin Cancer Res, 2025  ·  Brain, 2024;147(8):2761.</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WHAT IT DOES</a:t>
            </a:r>
            <a:endParaRPr lang="en-US" sz="1100" dirty="0"/>
          </a:p>
        </p:txBody>
      </p:sp>
      <p:sp>
        <p:nvSpPr>
          <p:cNvPr id="3" name="Text 1"/>
          <p:cNvSpPr/>
          <p:nvPr/>
        </p:nvSpPr>
        <p:spPr>
          <a:xfrm>
            <a:off x="640080" y="457200"/>
            <a:ext cx="11220226" cy="777240"/>
          </a:xfrm>
          <a:prstGeom prst="rect">
            <a:avLst/>
          </a:prstGeom>
          <a:noFill/>
          <a:ln/>
        </p:spPr>
        <p:txBody>
          <a:bodyPr wrap="square" lIns="0" tIns="0" rIns="0" bIns="0" rtlCol="0" anchor="ctr"/>
          <a:lstStyle/>
          <a:p>
            <a:pPr marL="0" indent="0" algn="l">
              <a:buNone/>
            </a:pPr>
            <a:r>
              <a:rPr lang="en-US" sz="3800" b="1" dirty="0">
                <a:solidFill>
                  <a:srgbClr val="1B2A2C"/>
                </a:solidFill>
                <a:latin typeface="Cambria" pitchFamily="34" charset="0"/>
                <a:ea typeface="Cambria" pitchFamily="34" charset="-122"/>
                <a:cs typeface="Cambria" pitchFamily="34" charset="-120"/>
              </a:rPr>
              <a:t>A report goes in. Two usable documents come out.</a:t>
            </a:r>
            <a:endParaRPr lang="en-US" sz="3800" dirty="0"/>
          </a:p>
        </p:txBody>
      </p:sp>
      <p:sp>
        <p:nvSpPr>
          <p:cNvPr id="4" name="Shape 2"/>
          <p:cNvSpPr/>
          <p:nvPr/>
        </p:nvSpPr>
        <p:spPr>
          <a:xfrm>
            <a:off x="640080" y="1572768"/>
            <a:ext cx="10908792" cy="713232"/>
          </a:xfrm>
          <a:prstGeom prst="roundRect">
            <a:avLst>
              <a:gd name="adj" fmla="val 7692"/>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5" name="Text 3"/>
          <p:cNvSpPr/>
          <p:nvPr/>
        </p:nvSpPr>
        <p:spPr>
          <a:xfrm>
            <a:off x="960120" y="1572768"/>
            <a:ext cx="457200" cy="713232"/>
          </a:xfrm>
          <a:prstGeom prst="rect">
            <a:avLst/>
          </a:prstGeom>
          <a:noFill/>
          <a:ln/>
        </p:spPr>
        <p:txBody>
          <a:bodyPr wrap="square" lIns="0" tIns="0" rIns="0" bIns="0" rtlCol="0" anchor="ctr"/>
          <a:lstStyle/>
          <a:p>
            <a:pPr marL="0" indent="0">
              <a:buNone/>
            </a:pPr>
            <a:r>
              <a:rPr lang="en-US" sz="1100" b="1" kern="0" spc="100" dirty="0">
                <a:solidFill>
                  <a:srgbClr val="3E8F86"/>
                </a:solidFill>
                <a:latin typeface="Calibri" pitchFamily="34" charset="0"/>
                <a:ea typeface="Calibri" pitchFamily="34" charset="-122"/>
                <a:cs typeface="Calibri" pitchFamily="34" charset="-120"/>
              </a:rPr>
              <a:t>IN</a:t>
            </a:r>
            <a:endParaRPr lang="en-US" sz="1100" dirty="0"/>
          </a:p>
        </p:txBody>
      </p:sp>
      <p:sp>
        <p:nvSpPr>
          <p:cNvPr id="6" name="Text 4"/>
          <p:cNvSpPr/>
          <p:nvPr/>
        </p:nvSpPr>
        <p:spPr>
          <a:xfrm>
            <a:off x="1554480" y="1572768"/>
            <a:ext cx="9509760" cy="713232"/>
          </a:xfrm>
          <a:prstGeom prst="rect">
            <a:avLst/>
          </a:prstGeom>
          <a:noFill/>
          <a:ln/>
        </p:spPr>
        <p:txBody>
          <a:bodyPr wrap="square" lIns="0" tIns="0" rIns="0" bIns="0" rtlCol="0" anchor="ctr"/>
          <a:lstStyle/>
          <a:p>
            <a:pPr marL="0" indent="0">
              <a:buNone/>
            </a:pPr>
            <a:r>
              <a:rPr lang="en-US" sz="1500" dirty="0">
                <a:solidFill>
                  <a:srgbClr val="1B2A2C"/>
                </a:solidFill>
                <a:latin typeface="Calibri" pitchFamily="34" charset="0"/>
                <a:ea typeface="Calibri" pitchFamily="34" charset="-122"/>
                <a:cs typeface="Calibri" pitchFamily="34" charset="-120"/>
              </a:rPr>
              <a:t>a report PDF  ·  pasted text  ·  a VCF  ·  or just a gene symbol and a clinical question</a:t>
            </a:r>
            <a:endParaRPr lang="en-US" sz="1500" dirty="0"/>
          </a:p>
        </p:txBody>
      </p:sp>
      <p:sp>
        <p:nvSpPr>
          <p:cNvPr id="7" name="Shape 5"/>
          <p:cNvSpPr/>
          <p:nvPr/>
        </p:nvSpPr>
        <p:spPr>
          <a:xfrm>
            <a:off x="640080" y="2487168"/>
            <a:ext cx="1691640" cy="1481328"/>
          </a:xfrm>
          <a:prstGeom prst="roundRect">
            <a:avLst>
              <a:gd name="adj" fmla="val 3704"/>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8" name="Shape 6"/>
          <p:cNvSpPr/>
          <p:nvPr/>
        </p:nvSpPr>
        <p:spPr>
          <a:xfrm>
            <a:off x="786384" y="2633472"/>
            <a:ext cx="329184" cy="329184"/>
          </a:xfrm>
          <a:prstGeom prst="ellipse">
            <a:avLst/>
          </a:prstGeom>
          <a:solidFill>
            <a:srgbClr val="3E8F86"/>
          </a:solidFill>
          <a:ln w="12700">
            <a:solidFill>
              <a:srgbClr val="3E8F86"/>
            </a:solidFill>
            <a:prstDash val="solid"/>
          </a:ln>
        </p:spPr>
        <p:txBody>
          <a:bodyPr/>
          <a:lstStyle/>
          <a:p>
            <a:endParaRPr lang="en-US"/>
          </a:p>
        </p:txBody>
      </p:sp>
      <p:sp>
        <p:nvSpPr>
          <p:cNvPr id="9" name="Text 7"/>
          <p:cNvSpPr/>
          <p:nvPr/>
        </p:nvSpPr>
        <p:spPr>
          <a:xfrm>
            <a:off x="786384" y="2633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188720" y="2615184"/>
            <a:ext cx="1051560" cy="365760"/>
          </a:xfrm>
          <a:prstGeom prst="rect">
            <a:avLst/>
          </a:prstGeom>
          <a:noFill/>
          <a:ln/>
        </p:spPr>
        <p:txBody>
          <a:bodyPr wrap="square" lIns="0" tIns="0" rIns="0" bIns="0" rtlCol="0" anchor="ctr"/>
          <a:lstStyle/>
          <a:p>
            <a:pPr marL="0" indent="0">
              <a:buNone/>
            </a:pPr>
            <a:r>
              <a:rPr lang="en-US" sz="1600" b="1" dirty="0">
                <a:solidFill>
                  <a:srgbClr val="0E3B3E"/>
                </a:solidFill>
                <a:latin typeface="Cambria" pitchFamily="34" charset="0"/>
                <a:ea typeface="Cambria" pitchFamily="34" charset="-122"/>
                <a:cs typeface="Cambria" pitchFamily="34" charset="-120"/>
              </a:rPr>
              <a:t>Parse</a:t>
            </a:r>
            <a:endParaRPr lang="en-US" sz="1600" dirty="0"/>
          </a:p>
        </p:txBody>
      </p:sp>
      <p:sp>
        <p:nvSpPr>
          <p:cNvPr id="11" name="Text 9"/>
          <p:cNvSpPr/>
          <p:nvPr/>
        </p:nvSpPr>
        <p:spPr>
          <a:xfrm>
            <a:off x="786384" y="3108960"/>
            <a:ext cx="1399032" cy="10972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gene, variant, zygosity,</a:t>
            </a:r>
            <a:endParaRPr lang="en-US" sz="1150" dirty="0"/>
          </a:p>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CNVs, assay, report date</a:t>
            </a:r>
            <a:endParaRPr lang="en-US" sz="1150" dirty="0"/>
          </a:p>
        </p:txBody>
      </p:sp>
      <p:sp>
        <p:nvSpPr>
          <p:cNvPr id="12" name="Shape 10"/>
          <p:cNvSpPr/>
          <p:nvPr/>
        </p:nvSpPr>
        <p:spPr>
          <a:xfrm>
            <a:off x="2480767" y="2487168"/>
            <a:ext cx="1691640" cy="1481328"/>
          </a:xfrm>
          <a:prstGeom prst="roundRect">
            <a:avLst>
              <a:gd name="adj" fmla="val 3704"/>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13" name="Shape 11"/>
          <p:cNvSpPr/>
          <p:nvPr/>
        </p:nvSpPr>
        <p:spPr>
          <a:xfrm>
            <a:off x="2627071" y="2633472"/>
            <a:ext cx="329184" cy="329184"/>
          </a:xfrm>
          <a:prstGeom prst="ellipse">
            <a:avLst/>
          </a:prstGeom>
          <a:solidFill>
            <a:srgbClr val="3E8F86"/>
          </a:solidFill>
          <a:ln w="12700">
            <a:solidFill>
              <a:srgbClr val="3E8F86"/>
            </a:solidFill>
            <a:prstDash val="solid"/>
          </a:ln>
        </p:spPr>
        <p:txBody>
          <a:bodyPr/>
          <a:lstStyle/>
          <a:p>
            <a:endParaRPr lang="en-US"/>
          </a:p>
        </p:txBody>
      </p:sp>
      <p:sp>
        <p:nvSpPr>
          <p:cNvPr id="14" name="Text 12"/>
          <p:cNvSpPr/>
          <p:nvPr/>
        </p:nvSpPr>
        <p:spPr>
          <a:xfrm>
            <a:off x="2627071" y="2633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3029407" y="2615184"/>
            <a:ext cx="1051560" cy="365760"/>
          </a:xfrm>
          <a:prstGeom prst="rect">
            <a:avLst/>
          </a:prstGeom>
          <a:noFill/>
          <a:ln/>
        </p:spPr>
        <p:txBody>
          <a:bodyPr wrap="square" lIns="0" tIns="0" rIns="0" bIns="0" rtlCol="0" anchor="ctr"/>
          <a:lstStyle/>
          <a:p>
            <a:pPr marL="0" indent="0">
              <a:buNone/>
            </a:pPr>
            <a:r>
              <a:rPr lang="en-US" sz="1600" b="1" dirty="0">
                <a:solidFill>
                  <a:srgbClr val="0E3B3E"/>
                </a:solidFill>
                <a:latin typeface="Cambria" pitchFamily="34" charset="0"/>
                <a:ea typeface="Cambria" pitchFamily="34" charset="-122"/>
                <a:cs typeface="Cambria" pitchFamily="34" charset="-120"/>
              </a:rPr>
              <a:t>Look up</a:t>
            </a:r>
            <a:endParaRPr lang="en-US" sz="1600" dirty="0"/>
          </a:p>
        </p:txBody>
      </p:sp>
      <p:sp>
        <p:nvSpPr>
          <p:cNvPr id="16" name="Text 14"/>
          <p:cNvSpPr/>
          <p:nvPr/>
        </p:nvSpPr>
        <p:spPr>
          <a:xfrm>
            <a:off x="2627071" y="3108960"/>
            <a:ext cx="1399032" cy="10972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syndrome, care domains,</a:t>
            </a:r>
            <a:endParaRPr lang="en-US" sz="1150" dirty="0"/>
          </a:p>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traps, sources to fetch</a:t>
            </a:r>
            <a:endParaRPr lang="en-US" sz="1150" dirty="0"/>
          </a:p>
        </p:txBody>
      </p:sp>
      <p:sp>
        <p:nvSpPr>
          <p:cNvPr id="17" name="Shape 15"/>
          <p:cNvSpPr/>
          <p:nvPr/>
        </p:nvSpPr>
        <p:spPr>
          <a:xfrm>
            <a:off x="4321454" y="2487168"/>
            <a:ext cx="1691640" cy="1481328"/>
          </a:xfrm>
          <a:prstGeom prst="roundRect">
            <a:avLst>
              <a:gd name="adj" fmla="val 3704"/>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18" name="Shape 16"/>
          <p:cNvSpPr/>
          <p:nvPr/>
        </p:nvSpPr>
        <p:spPr>
          <a:xfrm>
            <a:off x="4467758" y="2633472"/>
            <a:ext cx="329184" cy="329184"/>
          </a:xfrm>
          <a:prstGeom prst="ellipse">
            <a:avLst/>
          </a:prstGeom>
          <a:solidFill>
            <a:srgbClr val="3E8F86"/>
          </a:solidFill>
          <a:ln w="12700">
            <a:solidFill>
              <a:srgbClr val="3E8F86"/>
            </a:solidFill>
            <a:prstDash val="solid"/>
          </a:ln>
        </p:spPr>
        <p:txBody>
          <a:bodyPr/>
          <a:lstStyle/>
          <a:p>
            <a:endParaRPr lang="en-US"/>
          </a:p>
        </p:txBody>
      </p:sp>
      <p:sp>
        <p:nvSpPr>
          <p:cNvPr id="19" name="Text 17"/>
          <p:cNvSpPr/>
          <p:nvPr/>
        </p:nvSpPr>
        <p:spPr>
          <a:xfrm>
            <a:off x="4467758" y="2633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0" name="Text 18"/>
          <p:cNvSpPr/>
          <p:nvPr/>
        </p:nvSpPr>
        <p:spPr>
          <a:xfrm>
            <a:off x="4870094" y="2615184"/>
            <a:ext cx="1051560" cy="365760"/>
          </a:xfrm>
          <a:prstGeom prst="rect">
            <a:avLst/>
          </a:prstGeom>
          <a:noFill/>
          <a:ln/>
        </p:spPr>
        <p:txBody>
          <a:bodyPr wrap="square" lIns="0" tIns="0" rIns="0" bIns="0" rtlCol="0" anchor="ctr"/>
          <a:lstStyle/>
          <a:p>
            <a:pPr marL="0" indent="0">
              <a:buNone/>
            </a:pPr>
            <a:r>
              <a:rPr lang="en-US" sz="1600" b="1" dirty="0">
                <a:solidFill>
                  <a:srgbClr val="0E3B3E"/>
                </a:solidFill>
                <a:latin typeface="Cambria" pitchFamily="34" charset="0"/>
                <a:ea typeface="Cambria" pitchFamily="34" charset="-122"/>
                <a:cs typeface="Cambria" pitchFamily="34" charset="-120"/>
              </a:rPr>
              <a:t>Fetch</a:t>
            </a:r>
            <a:endParaRPr lang="en-US" sz="1600" dirty="0"/>
          </a:p>
        </p:txBody>
      </p:sp>
      <p:sp>
        <p:nvSpPr>
          <p:cNvPr id="21" name="Text 19"/>
          <p:cNvSpPr/>
          <p:nvPr/>
        </p:nvSpPr>
        <p:spPr>
          <a:xfrm>
            <a:off x="4467758" y="3108960"/>
            <a:ext cx="1399032" cy="10972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read the current specifics,</a:t>
            </a:r>
            <a:endParaRPr lang="en-US" sz="1150" dirty="0"/>
          </a:p>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stamp a retrieval date</a:t>
            </a:r>
            <a:endParaRPr lang="en-US" sz="1150" dirty="0"/>
          </a:p>
        </p:txBody>
      </p:sp>
      <p:sp>
        <p:nvSpPr>
          <p:cNvPr id="22" name="Shape 20"/>
          <p:cNvSpPr/>
          <p:nvPr/>
        </p:nvSpPr>
        <p:spPr>
          <a:xfrm>
            <a:off x="6162142" y="2487168"/>
            <a:ext cx="1691640" cy="1481328"/>
          </a:xfrm>
          <a:prstGeom prst="roundRect">
            <a:avLst>
              <a:gd name="adj" fmla="val 3704"/>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23" name="Shape 21"/>
          <p:cNvSpPr/>
          <p:nvPr/>
        </p:nvSpPr>
        <p:spPr>
          <a:xfrm>
            <a:off x="6308446" y="2633472"/>
            <a:ext cx="329184" cy="329184"/>
          </a:xfrm>
          <a:prstGeom prst="ellipse">
            <a:avLst/>
          </a:prstGeom>
          <a:solidFill>
            <a:srgbClr val="C25A28"/>
          </a:solidFill>
          <a:ln w="12700">
            <a:solidFill>
              <a:srgbClr val="C25A28"/>
            </a:solidFill>
            <a:prstDash val="solid"/>
          </a:ln>
        </p:spPr>
        <p:txBody>
          <a:bodyPr/>
          <a:lstStyle/>
          <a:p>
            <a:endParaRPr lang="en-US"/>
          </a:p>
        </p:txBody>
      </p:sp>
      <p:sp>
        <p:nvSpPr>
          <p:cNvPr id="24" name="Text 22"/>
          <p:cNvSpPr/>
          <p:nvPr/>
        </p:nvSpPr>
        <p:spPr>
          <a:xfrm>
            <a:off x="6308446" y="2633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6710782" y="2615184"/>
            <a:ext cx="1051560" cy="365760"/>
          </a:xfrm>
          <a:prstGeom prst="rect">
            <a:avLst/>
          </a:prstGeom>
          <a:noFill/>
          <a:ln/>
        </p:spPr>
        <p:txBody>
          <a:bodyPr wrap="square" lIns="0" tIns="0" rIns="0" bIns="0" rtlCol="0" anchor="ctr"/>
          <a:lstStyle/>
          <a:p>
            <a:pPr marL="0" indent="0">
              <a:buNone/>
            </a:pPr>
            <a:r>
              <a:rPr lang="en-US" sz="1600" b="1" dirty="0">
                <a:solidFill>
                  <a:srgbClr val="C25A28"/>
                </a:solidFill>
                <a:latin typeface="Cambria" pitchFamily="34" charset="0"/>
                <a:ea typeface="Cambria" pitchFamily="34" charset="-122"/>
                <a:cs typeface="Cambria" pitchFamily="34" charset="-120"/>
              </a:rPr>
              <a:t>Risk layer</a:t>
            </a:r>
            <a:endParaRPr lang="en-US" sz="1600" dirty="0"/>
          </a:p>
        </p:txBody>
      </p:sp>
      <p:sp>
        <p:nvSpPr>
          <p:cNvPr id="26" name="Text 24"/>
          <p:cNvSpPr/>
          <p:nvPr/>
        </p:nvSpPr>
        <p:spPr>
          <a:xfrm>
            <a:off x="6308446" y="3108960"/>
            <a:ext cx="1399032" cy="10972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tier the finding, handle</a:t>
            </a:r>
            <a:endParaRPr lang="en-US" sz="1150" dirty="0"/>
          </a:p>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VUS, minors, incidentals</a:t>
            </a:r>
            <a:endParaRPr lang="en-US" sz="1150" dirty="0"/>
          </a:p>
        </p:txBody>
      </p:sp>
      <p:sp>
        <p:nvSpPr>
          <p:cNvPr id="27" name="Shape 25"/>
          <p:cNvSpPr/>
          <p:nvPr/>
        </p:nvSpPr>
        <p:spPr>
          <a:xfrm>
            <a:off x="8002829" y="2487168"/>
            <a:ext cx="1691640" cy="1481328"/>
          </a:xfrm>
          <a:prstGeom prst="roundRect">
            <a:avLst>
              <a:gd name="adj" fmla="val 3704"/>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28" name="Shape 26"/>
          <p:cNvSpPr/>
          <p:nvPr/>
        </p:nvSpPr>
        <p:spPr>
          <a:xfrm>
            <a:off x="8149133" y="2633472"/>
            <a:ext cx="329184" cy="329184"/>
          </a:xfrm>
          <a:prstGeom prst="ellipse">
            <a:avLst/>
          </a:prstGeom>
          <a:solidFill>
            <a:srgbClr val="3E8F86"/>
          </a:solidFill>
          <a:ln w="12700">
            <a:solidFill>
              <a:srgbClr val="3E8F86"/>
            </a:solidFill>
            <a:prstDash val="solid"/>
          </a:ln>
        </p:spPr>
        <p:txBody>
          <a:bodyPr/>
          <a:lstStyle/>
          <a:p>
            <a:endParaRPr lang="en-US"/>
          </a:p>
        </p:txBody>
      </p:sp>
      <p:sp>
        <p:nvSpPr>
          <p:cNvPr id="29" name="Text 27"/>
          <p:cNvSpPr/>
          <p:nvPr/>
        </p:nvSpPr>
        <p:spPr>
          <a:xfrm>
            <a:off x="8149133" y="2633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0" name="Text 28"/>
          <p:cNvSpPr/>
          <p:nvPr/>
        </p:nvSpPr>
        <p:spPr>
          <a:xfrm>
            <a:off x="8551469" y="2615184"/>
            <a:ext cx="1051560" cy="365760"/>
          </a:xfrm>
          <a:prstGeom prst="rect">
            <a:avLst/>
          </a:prstGeom>
          <a:noFill/>
          <a:ln/>
        </p:spPr>
        <p:txBody>
          <a:bodyPr wrap="square" lIns="0" tIns="0" rIns="0" bIns="0" rtlCol="0" anchor="ctr"/>
          <a:lstStyle/>
          <a:p>
            <a:pPr marL="0" indent="0">
              <a:buNone/>
            </a:pPr>
            <a:r>
              <a:rPr lang="en-US" sz="1600" b="1" dirty="0">
                <a:solidFill>
                  <a:srgbClr val="0E3B3E"/>
                </a:solidFill>
                <a:latin typeface="Cambria" pitchFamily="34" charset="0"/>
                <a:ea typeface="Cambria" pitchFamily="34" charset="-122"/>
                <a:cs typeface="Cambria" pitchFamily="34" charset="-120"/>
              </a:rPr>
              <a:t>Testing gap</a:t>
            </a:r>
            <a:endParaRPr lang="en-US" sz="1600" dirty="0"/>
          </a:p>
        </p:txBody>
      </p:sp>
      <p:sp>
        <p:nvSpPr>
          <p:cNvPr id="31" name="Text 29"/>
          <p:cNvSpPr/>
          <p:nvPr/>
        </p:nvSpPr>
        <p:spPr>
          <a:xfrm>
            <a:off x="8149133" y="3108960"/>
            <a:ext cx="1399032" cy="10972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what the assay missed,</a:t>
            </a:r>
            <a:endParaRPr lang="en-US" sz="1150" dirty="0"/>
          </a:p>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what is indicated next</a:t>
            </a:r>
            <a:endParaRPr lang="en-US" sz="1150" dirty="0"/>
          </a:p>
        </p:txBody>
      </p:sp>
      <p:sp>
        <p:nvSpPr>
          <p:cNvPr id="32" name="Shape 30"/>
          <p:cNvSpPr/>
          <p:nvPr/>
        </p:nvSpPr>
        <p:spPr>
          <a:xfrm>
            <a:off x="9843516" y="2487168"/>
            <a:ext cx="1691640" cy="1481328"/>
          </a:xfrm>
          <a:prstGeom prst="roundRect">
            <a:avLst>
              <a:gd name="adj" fmla="val 3704"/>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33" name="Shape 31"/>
          <p:cNvSpPr/>
          <p:nvPr/>
        </p:nvSpPr>
        <p:spPr>
          <a:xfrm>
            <a:off x="9989820" y="2633472"/>
            <a:ext cx="329184" cy="329184"/>
          </a:xfrm>
          <a:prstGeom prst="ellipse">
            <a:avLst/>
          </a:prstGeom>
          <a:solidFill>
            <a:srgbClr val="3E8F86"/>
          </a:solidFill>
          <a:ln w="12700">
            <a:solidFill>
              <a:srgbClr val="3E8F86"/>
            </a:solidFill>
            <a:prstDash val="solid"/>
          </a:ln>
        </p:spPr>
        <p:txBody>
          <a:bodyPr/>
          <a:lstStyle/>
          <a:p>
            <a:endParaRPr lang="en-US"/>
          </a:p>
        </p:txBody>
      </p:sp>
      <p:sp>
        <p:nvSpPr>
          <p:cNvPr id="34" name="Text 32"/>
          <p:cNvSpPr/>
          <p:nvPr/>
        </p:nvSpPr>
        <p:spPr>
          <a:xfrm>
            <a:off x="9989820" y="263347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5" name="Text 33"/>
          <p:cNvSpPr/>
          <p:nvPr/>
        </p:nvSpPr>
        <p:spPr>
          <a:xfrm>
            <a:off x="10392156" y="2615184"/>
            <a:ext cx="1051560" cy="365760"/>
          </a:xfrm>
          <a:prstGeom prst="rect">
            <a:avLst/>
          </a:prstGeom>
          <a:noFill/>
          <a:ln/>
        </p:spPr>
        <p:txBody>
          <a:bodyPr wrap="square" lIns="0" tIns="0" rIns="0" bIns="0" rtlCol="0" anchor="ctr"/>
          <a:lstStyle/>
          <a:p>
            <a:pPr marL="0" indent="0">
              <a:buNone/>
            </a:pPr>
            <a:r>
              <a:rPr lang="en-US" sz="1600" b="1" dirty="0">
                <a:solidFill>
                  <a:srgbClr val="0E3B3E"/>
                </a:solidFill>
                <a:latin typeface="Cambria" pitchFamily="34" charset="0"/>
                <a:ea typeface="Cambria" pitchFamily="34" charset="-122"/>
                <a:cs typeface="Cambria" pitchFamily="34" charset="-120"/>
              </a:rPr>
              <a:t>Write</a:t>
            </a:r>
            <a:endParaRPr lang="en-US" sz="1600" dirty="0"/>
          </a:p>
        </p:txBody>
      </p:sp>
      <p:sp>
        <p:nvSpPr>
          <p:cNvPr id="36" name="Text 34"/>
          <p:cNvSpPr/>
          <p:nvPr/>
        </p:nvSpPr>
        <p:spPr>
          <a:xfrm>
            <a:off x="9989820" y="3108960"/>
            <a:ext cx="1399032" cy="10972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family register and</a:t>
            </a:r>
            <a:endParaRPr lang="en-US" sz="1150" dirty="0"/>
          </a:p>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clinician register</a:t>
            </a:r>
            <a:endParaRPr lang="en-US" sz="1150" dirty="0"/>
          </a:p>
        </p:txBody>
      </p:sp>
      <p:sp>
        <p:nvSpPr>
          <p:cNvPr id="37" name="Shape 35"/>
          <p:cNvSpPr/>
          <p:nvPr/>
        </p:nvSpPr>
        <p:spPr>
          <a:xfrm>
            <a:off x="640080" y="4315968"/>
            <a:ext cx="5349240" cy="1298448"/>
          </a:xfrm>
          <a:prstGeom prst="roundRect">
            <a:avLst>
              <a:gd name="adj" fmla="val 4225"/>
            </a:avLst>
          </a:prstGeom>
          <a:solidFill>
            <a:srgbClr val="0E3B3E"/>
          </a:solidFill>
          <a:ln w="12700">
            <a:solidFill>
              <a:srgbClr val="0E3B3E"/>
            </a:solidFill>
            <a:prstDash val="solid"/>
          </a:ln>
        </p:spPr>
        <p:txBody>
          <a:bodyPr/>
          <a:lstStyle/>
          <a:p>
            <a:endParaRPr lang="en-US"/>
          </a:p>
        </p:txBody>
      </p:sp>
      <p:sp>
        <p:nvSpPr>
          <p:cNvPr id="38" name="Text 36"/>
          <p:cNvSpPr/>
          <p:nvPr/>
        </p:nvSpPr>
        <p:spPr>
          <a:xfrm>
            <a:off x="1024128" y="4443984"/>
            <a:ext cx="45720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For the family</a:t>
            </a:r>
            <a:endParaRPr lang="en-US" sz="1800" dirty="0"/>
          </a:p>
        </p:txBody>
      </p:sp>
      <p:sp>
        <p:nvSpPr>
          <p:cNvPr id="39" name="Text 37"/>
          <p:cNvSpPr/>
          <p:nvPr/>
        </p:nvSpPr>
        <p:spPr>
          <a:xfrm>
            <a:off x="1024128" y="4828032"/>
            <a:ext cx="4617720" cy="640080"/>
          </a:xfrm>
          <a:prstGeom prst="rect">
            <a:avLst/>
          </a:prstGeom>
          <a:noFill/>
          <a:ln/>
        </p:spPr>
        <p:txBody>
          <a:bodyPr wrap="square" lIns="0" tIns="0" rIns="0" bIns="0" rtlCol="0" anchor="t"/>
          <a:lstStyle/>
          <a:p>
            <a:pPr marL="0" indent="0">
              <a:lnSpc>
                <a:spcPts val="1800"/>
              </a:lnSpc>
              <a:buNone/>
            </a:pPr>
            <a:r>
              <a:rPr lang="en-US" sz="1300" dirty="0">
                <a:solidFill>
                  <a:srgbClr val="C9DEDA"/>
                </a:solidFill>
                <a:latin typeface="Calibri" pitchFamily="34" charset="0"/>
                <a:ea typeface="Calibri" pitchFamily="34" charset="-122"/>
                <a:cs typeface="Calibri" pitchFamily="34" charset="-120"/>
              </a:rPr>
              <a:t>Plain and directive. Ends with the questions to bring to the next appointment.</a:t>
            </a:r>
            <a:endParaRPr lang="en-US" sz="1300" dirty="0"/>
          </a:p>
        </p:txBody>
      </p:sp>
      <p:sp>
        <p:nvSpPr>
          <p:cNvPr id="40" name="Shape 38"/>
          <p:cNvSpPr/>
          <p:nvPr/>
        </p:nvSpPr>
        <p:spPr>
          <a:xfrm>
            <a:off x="6199632" y="4315968"/>
            <a:ext cx="5349240" cy="1298448"/>
          </a:xfrm>
          <a:prstGeom prst="roundRect">
            <a:avLst>
              <a:gd name="adj" fmla="val 4225"/>
            </a:avLst>
          </a:prstGeom>
          <a:solidFill>
            <a:srgbClr val="0E3B3E"/>
          </a:solidFill>
          <a:ln w="12700">
            <a:solidFill>
              <a:srgbClr val="0E3B3E"/>
            </a:solidFill>
            <a:prstDash val="solid"/>
          </a:ln>
        </p:spPr>
        <p:txBody>
          <a:bodyPr/>
          <a:lstStyle/>
          <a:p>
            <a:endParaRPr lang="en-US"/>
          </a:p>
        </p:txBody>
      </p:sp>
      <p:sp>
        <p:nvSpPr>
          <p:cNvPr id="41" name="Text 39"/>
          <p:cNvSpPr/>
          <p:nvPr/>
        </p:nvSpPr>
        <p:spPr>
          <a:xfrm>
            <a:off x="6583680" y="4443984"/>
            <a:ext cx="45720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For the clinician</a:t>
            </a:r>
            <a:endParaRPr lang="en-US" sz="1800" dirty="0"/>
          </a:p>
        </p:txBody>
      </p:sp>
      <p:sp>
        <p:nvSpPr>
          <p:cNvPr id="42" name="Text 40"/>
          <p:cNvSpPr/>
          <p:nvPr/>
        </p:nvSpPr>
        <p:spPr>
          <a:xfrm>
            <a:off x="6583680" y="4828032"/>
            <a:ext cx="4617720" cy="640080"/>
          </a:xfrm>
          <a:prstGeom prst="rect">
            <a:avLst/>
          </a:prstGeom>
          <a:noFill/>
          <a:ln/>
        </p:spPr>
        <p:txBody>
          <a:bodyPr wrap="square" lIns="0" tIns="0" rIns="0" bIns="0" rtlCol="0" anchor="t"/>
          <a:lstStyle/>
          <a:p>
            <a:pPr marL="0" indent="0">
              <a:lnSpc>
                <a:spcPts val="1800"/>
              </a:lnSpc>
              <a:buNone/>
            </a:pPr>
            <a:r>
              <a:rPr lang="en-US" sz="1300" dirty="0">
                <a:solidFill>
                  <a:srgbClr val="C9DEDA"/>
                </a:solidFill>
                <a:latin typeface="Calibri" pitchFamily="34" charset="0"/>
                <a:ea typeface="Calibri" pitchFamily="34" charset="-122"/>
                <a:cs typeface="Calibri" pitchFamily="34" charset="-120"/>
              </a:rPr>
              <a:t>Technical, ACMG-framed, cited, with retrieval dates on every specific.</a:t>
            </a:r>
            <a:endParaRPr lang="en-US" sz="1300" dirty="0"/>
          </a:p>
        </p:txBody>
      </p:sp>
      <p:sp>
        <p:nvSpPr>
          <p:cNvPr id="43" name="Text 41"/>
          <p:cNvSpPr/>
          <p:nvPr/>
        </p:nvSpPr>
        <p:spPr>
          <a:xfrm>
            <a:off x="640080" y="6327648"/>
            <a:ext cx="10908792" cy="274320"/>
          </a:xfrm>
          <a:prstGeom prst="rect">
            <a:avLst/>
          </a:prstGeom>
          <a:noFill/>
          <a:ln/>
        </p:spPr>
        <p:txBody>
          <a:bodyPr wrap="square" lIns="0" tIns="0" rIns="0" bIns="0" rtlCol="0" anchor="ctr"/>
          <a:lstStyle/>
          <a:p>
            <a:pPr marL="0" indent="0">
              <a:buNone/>
            </a:pPr>
            <a:r>
              <a:rPr lang="en-US" sz="1000" i="1" dirty="0">
                <a:solidFill>
                  <a:srgbClr val="5F7274"/>
                </a:solidFill>
                <a:latin typeface="Calibri" pitchFamily="34" charset="0"/>
                <a:ea typeface="Calibri" pitchFamily="34" charset="-122"/>
                <a:cs typeface="Calibri" pitchFamily="34" charset="-120"/>
              </a:rPr>
              <a:t>Steps 1, 2, 5 and 6 are Python; steps 3 and 4 are the agent working under written policy. Full diagram: docs/workflow.png.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THE DESIGN RULE THAT SHAPES EVERYTHING</a:t>
            </a:r>
            <a:endParaRPr lang="en-US" sz="1100" dirty="0"/>
          </a:p>
        </p:txBody>
      </p:sp>
      <p:sp>
        <p:nvSpPr>
          <p:cNvPr id="3" name="Shape 1"/>
          <p:cNvSpPr/>
          <p:nvPr/>
        </p:nvSpPr>
        <p:spPr>
          <a:xfrm>
            <a:off x="640080" y="868680"/>
            <a:ext cx="10908792" cy="1371600"/>
          </a:xfrm>
          <a:prstGeom prst="roundRect">
            <a:avLst>
              <a:gd name="adj" fmla="val 4000"/>
            </a:avLst>
          </a:prstGeom>
          <a:solidFill>
            <a:srgbClr val="0E3B3E"/>
          </a:solidFill>
          <a:ln w="12700">
            <a:solidFill>
              <a:srgbClr val="0E3B3E"/>
            </a:solidFill>
            <a:prstDash val="solid"/>
          </a:ln>
        </p:spPr>
        <p:txBody>
          <a:bodyPr/>
          <a:lstStyle/>
          <a:p>
            <a:endParaRPr lang="en-US"/>
          </a:p>
        </p:txBody>
      </p:sp>
      <p:sp>
        <p:nvSpPr>
          <p:cNvPr id="4" name="Text 2"/>
          <p:cNvSpPr/>
          <p:nvPr/>
        </p:nvSpPr>
        <p:spPr>
          <a:xfrm>
            <a:off x="1097280" y="868680"/>
            <a:ext cx="10058400" cy="137160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“Never recite medical specifics from memory.”</a:t>
            </a:r>
            <a:endParaRPr lang="en-US" sz="3400" dirty="0"/>
          </a:p>
        </p:txBody>
      </p:sp>
      <p:sp>
        <p:nvSpPr>
          <p:cNvPr id="5" name="Text 3"/>
          <p:cNvSpPr/>
          <p:nvPr/>
        </p:nvSpPr>
        <p:spPr>
          <a:xfrm>
            <a:off x="640080" y="2432304"/>
            <a:ext cx="10908792" cy="822960"/>
          </a:xfrm>
          <a:prstGeom prst="rect">
            <a:avLst/>
          </a:prstGeom>
          <a:noFill/>
          <a:ln/>
        </p:spPr>
        <p:txBody>
          <a:bodyPr wrap="square" lIns="0" tIns="0" rIns="0" bIns="0" rtlCol="0" anchor="t"/>
          <a:lstStyle/>
          <a:p>
            <a:pPr marL="0" indent="0">
              <a:lnSpc>
                <a:spcPts val="2300"/>
              </a:lnSpc>
              <a:buNone/>
            </a:pPr>
            <a:r>
              <a:rPr lang="en-US" sz="1550" dirty="0">
                <a:solidFill>
                  <a:srgbClr val="1B2A2C"/>
                </a:solidFill>
                <a:latin typeface="Calibri" pitchFamily="34" charset="0"/>
                <a:ea typeface="Calibri" pitchFamily="34" charset="-122"/>
                <a:cs typeface="Calibri" pitchFamily="34" charset="-120"/>
              </a:rPr>
              <a:t>Surveillance ages, intervals, modalities and risk percentages drift between guideline versions.</a:t>
            </a:r>
            <a:endParaRPr lang="en-US" sz="1550" dirty="0"/>
          </a:p>
          <a:p>
            <a:pPr marL="0" indent="0">
              <a:lnSpc>
                <a:spcPts val="2300"/>
              </a:lnSpc>
              <a:buNone/>
            </a:pPr>
            <a:r>
              <a:rPr lang="en-US" sz="1550" dirty="0">
                <a:solidFill>
                  <a:srgbClr val="1B2A2C"/>
                </a:solidFill>
                <a:latin typeface="Calibri" pitchFamily="34" charset="0"/>
                <a:ea typeface="Calibri" pitchFamily="34" charset="-122"/>
                <a:cs typeface="Calibri" pitchFamily="34" charset="-120"/>
              </a:rPr>
              <a:t>A thyroid ultrasound starting at age 7 rather than age 10 is the difference between useful and harmful — and a family will act on a number the tool gives them.</a:t>
            </a:r>
            <a:endParaRPr lang="en-US" sz="1550" dirty="0"/>
          </a:p>
        </p:txBody>
      </p:sp>
      <p:sp>
        <p:nvSpPr>
          <p:cNvPr id="6" name="Shape 4"/>
          <p:cNvSpPr/>
          <p:nvPr/>
        </p:nvSpPr>
        <p:spPr>
          <a:xfrm>
            <a:off x="640080" y="3474720"/>
            <a:ext cx="3502152" cy="1737360"/>
          </a:xfrm>
          <a:prstGeom prst="roundRect">
            <a:avLst>
              <a:gd name="adj" fmla="val 3158"/>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7" name="Text 5"/>
          <p:cNvSpPr/>
          <p:nvPr/>
        </p:nvSpPr>
        <p:spPr>
          <a:xfrm>
            <a:off x="960120" y="3657600"/>
            <a:ext cx="2953512" cy="502920"/>
          </a:xfrm>
          <a:prstGeom prst="rect">
            <a:avLst/>
          </a:prstGeom>
          <a:noFill/>
          <a:ln/>
        </p:spPr>
        <p:txBody>
          <a:bodyPr wrap="square" lIns="0" tIns="0" rIns="0" bIns="0" rtlCol="0" anchor="ctr"/>
          <a:lstStyle/>
          <a:p>
            <a:pPr marL="0" indent="0">
              <a:buNone/>
            </a:pPr>
            <a:r>
              <a:rPr lang="en-US" sz="1550" b="1" dirty="0">
                <a:solidFill>
                  <a:srgbClr val="0E3B3E"/>
                </a:solidFill>
                <a:latin typeface="Cambria" pitchFamily="34" charset="0"/>
                <a:ea typeface="Cambria" pitchFamily="34" charset="-122"/>
                <a:cs typeface="Cambria" pitchFamily="34" charset="-120"/>
              </a:rPr>
              <a:t>What the index holds</a:t>
            </a:r>
            <a:endParaRPr lang="en-US" sz="1550" dirty="0"/>
          </a:p>
        </p:txBody>
      </p:sp>
      <p:sp>
        <p:nvSpPr>
          <p:cNvPr id="8" name="Text 6"/>
          <p:cNvSpPr/>
          <p:nvPr/>
        </p:nvSpPr>
        <p:spPr>
          <a:xfrm>
            <a:off x="960120" y="4206240"/>
            <a:ext cx="2953512" cy="1005840"/>
          </a:xfrm>
          <a:prstGeom prst="rect">
            <a:avLst/>
          </a:prstGeom>
          <a:noFill/>
          <a:ln/>
        </p:spPr>
        <p:txBody>
          <a:bodyPr wrap="square" lIns="0" tIns="0" rIns="0" bIns="0" rtlCol="0" anchor="t"/>
          <a:lstStyle/>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That a protocol exists.</a:t>
            </a:r>
            <a:endParaRPr lang="en-US" sz="1350" dirty="0"/>
          </a:p>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Which document holds it.</a:t>
            </a:r>
            <a:endParaRPr lang="en-US" sz="1350" dirty="0"/>
          </a:p>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Which care domains it covers.</a:t>
            </a:r>
            <a:endParaRPr lang="en-US" sz="1350" dirty="0"/>
          </a:p>
        </p:txBody>
      </p:sp>
      <p:sp>
        <p:nvSpPr>
          <p:cNvPr id="9" name="Shape 7"/>
          <p:cNvSpPr/>
          <p:nvPr/>
        </p:nvSpPr>
        <p:spPr>
          <a:xfrm>
            <a:off x="4343400" y="3474720"/>
            <a:ext cx="3502152" cy="1737360"/>
          </a:xfrm>
          <a:prstGeom prst="roundRect">
            <a:avLst>
              <a:gd name="adj" fmla="val 3158"/>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10" name="Text 8"/>
          <p:cNvSpPr/>
          <p:nvPr/>
        </p:nvSpPr>
        <p:spPr>
          <a:xfrm>
            <a:off x="4663440" y="3657600"/>
            <a:ext cx="2953512" cy="502920"/>
          </a:xfrm>
          <a:prstGeom prst="rect">
            <a:avLst/>
          </a:prstGeom>
          <a:noFill/>
          <a:ln/>
        </p:spPr>
        <p:txBody>
          <a:bodyPr wrap="square" lIns="0" tIns="0" rIns="0" bIns="0" rtlCol="0" anchor="ctr"/>
          <a:lstStyle/>
          <a:p>
            <a:pPr marL="0" indent="0">
              <a:buNone/>
            </a:pPr>
            <a:r>
              <a:rPr lang="en-US" sz="1550" b="1" dirty="0">
                <a:solidFill>
                  <a:srgbClr val="C25A28"/>
                </a:solidFill>
                <a:latin typeface="Cambria" pitchFamily="34" charset="0"/>
                <a:ea typeface="Cambria" pitchFamily="34" charset="-122"/>
                <a:cs typeface="Cambria" pitchFamily="34" charset="-120"/>
              </a:rPr>
              <a:t>What it deliberately does not</a:t>
            </a:r>
            <a:endParaRPr lang="en-US" sz="1550" dirty="0"/>
          </a:p>
        </p:txBody>
      </p:sp>
      <p:sp>
        <p:nvSpPr>
          <p:cNvPr id="11" name="Text 9"/>
          <p:cNvSpPr/>
          <p:nvPr/>
        </p:nvSpPr>
        <p:spPr>
          <a:xfrm>
            <a:off x="4663440" y="4206240"/>
            <a:ext cx="2953512" cy="1005840"/>
          </a:xfrm>
          <a:prstGeom prst="rect">
            <a:avLst/>
          </a:prstGeom>
          <a:noFill/>
          <a:ln/>
        </p:spPr>
        <p:txBody>
          <a:bodyPr wrap="square" lIns="0" tIns="0" rIns="0" bIns="0" rtlCol="0" anchor="t"/>
          <a:lstStyle/>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No ages.</a:t>
            </a:r>
            <a:endParaRPr lang="en-US" sz="1350" dirty="0"/>
          </a:p>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No intervals.</a:t>
            </a:r>
            <a:endParaRPr lang="en-US" sz="1350" dirty="0"/>
          </a:p>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No modalities. No doses.</a:t>
            </a:r>
            <a:endParaRPr lang="en-US" sz="1350" dirty="0"/>
          </a:p>
        </p:txBody>
      </p:sp>
      <p:sp>
        <p:nvSpPr>
          <p:cNvPr id="12" name="Shape 10"/>
          <p:cNvSpPr/>
          <p:nvPr/>
        </p:nvSpPr>
        <p:spPr>
          <a:xfrm>
            <a:off x="8046720" y="3474720"/>
            <a:ext cx="3502152" cy="1737360"/>
          </a:xfrm>
          <a:prstGeom prst="roundRect">
            <a:avLst>
              <a:gd name="adj" fmla="val 3158"/>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13" name="Text 11"/>
          <p:cNvSpPr/>
          <p:nvPr/>
        </p:nvSpPr>
        <p:spPr>
          <a:xfrm>
            <a:off x="8366760" y="3657600"/>
            <a:ext cx="2953512" cy="502920"/>
          </a:xfrm>
          <a:prstGeom prst="rect">
            <a:avLst/>
          </a:prstGeom>
          <a:noFill/>
          <a:ln/>
        </p:spPr>
        <p:txBody>
          <a:bodyPr wrap="square" lIns="0" tIns="0" rIns="0" bIns="0" rtlCol="0" anchor="ctr"/>
          <a:lstStyle/>
          <a:p>
            <a:pPr marL="0" indent="0">
              <a:buNone/>
            </a:pPr>
            <a:r>
              <a:rPr lang="en-US" sz="1550" b="1" dirty="0">
                <a:solidFill>
                  <a:srgbClr val="0E3B3E"/>
                </a:solidFill>
                <a:latin typeface="Cambria" pitchFamily="34" charset="0"/>
                <a:ea typeface="Cambria" pitchFamily="34" charset="-122"/>
                <a:cs typeface="Cambria" pitchFamily="34" charset="-120"/>
              </a:rPr>
              <a:t>So what happens at run time</a:t>
            </a:r>
            <a:endParaRPr lang="en-US" sz="1550" dirty="0"/>
          </a:p>
        </p:txBody>
      </p:sp>
      <p:sp>
        <p:nvSpPr>
          <p:cNvPr id="14" name="Text 12"/>
          <p:cNvSpPr/>
          <p:nvPr/>
        </p:nvSpPr>
        <p:spPr>
          <a:xfrm>
            <a:off x="8366760" y="4206240"/>
            <a:ext cx="2953512" cy="1005840"/>
          </a:xfrm>
          <a:prstGeom prst="rect">
            <a:avLst/>
          </a:prstGeom>
          <a:noFill/>
          <a:ln/>
        </p:spPr>
        <p:txBody>
          <a:bodyPr wrap="square" lIns="0" tIns="0" rIns="0" bIns="0" rtlCol="0" anchor="t"/>
          <a:lstStyle/>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The agent fetches the source and</a:t>
            </a:r>
            <a:endParaRPr lang="en-US" sz="1350" dirty="0"/>
          </a:p>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quotes it with a retrieval date. If it</a:t>
            </a:r>
            <a:endParaRPr lang="en-US" sz="1350" dirty="0"/>
          </a:p>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cannot reach it, it names the</a:t>
            </a:r>
            <a:endParaRPr lang="en-US" sz="1350" dirty="0"/>
          </a:p>
          <a:p>
            <a:pPr marL="0" indent="0">
              <a:lnSpc>
                <a:spcPts val="1900"/>
              </a:lnSpc>
              <a:buNone/>
            </a:pPr>
            <a:r>
              <a:rPr lang="en-US" sz="1350" dirty="0">
                <a:solidFill>
                  <a:srgbClr val="1B2A2C"/>
                </a:solidFill>
                <a:latin typeface="Calibri" pitchFamily="34" charset="0"/>
                <a:ea typeface="Calibri" pitchFamily="34" charset="-122"/>
                <a:cs typeface="Calibri" pitchFamily="34" charset="-120"/>
              </a:rPr>
              <a:t>document and stops.</a:t>
            </a:r>
            <a:endParaRPr lang="en-US" sz="1350" dirty="0"/>
          </a:p>
        </p:txBody>
      </p:sp>
      <p:sp>
        <p:nvSpPr>
          <p:cNvPr id="15" name="Text 13"/>
          <p:cNvSpPr/>
          <p:nvPr/>
        </p:nvSpPr>
        <p:spPr>
          <a:xfrm>
            <a:off x="640080" y="5440680"/>
            <a:ext cx="10908792" cy="457200"/>
          </a:xfrm>
          <a:prstGeom prst="rect">
            <a:avLst/>
          </a:prstGeom>
          <a:noFill/>
          <a:ln/>
        </p:spPr>
        <p:txBody>
          <a:bodyPr wrap="square" lIns="0" tIns="0" rIns="0" bIns="0" rtlCol="0" anchor="ctr"/>
          <a:lstStyle/>
          <a:p>
            <a:pPr marL="0" indent="0">
              <a:buNone/>
            </a:pPr>
            <a:r>
              <a:rPr lang="en-US" sz="1300" i="1" dirty="0">
                <a:solidFill>
                  <a:srgbClr val="5F7274"/>
                </a:solidFill>
                <a:latin typeface="Calibri" pitchFamily="34" charset="0"/>
                <a:ea typeface="Calibri" pitchFamily="34" charset="-122"/>
                <a:cs typeface="Calibri" pitchFamily="34" charset="-120"/>
              </a:rPr>
              <a:t>This is also why the repository stays clear of third-party guideline copyright — the exclusion is a clinical-safety decision that happens to have that effect.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THE RISK LAYER</a:t>
            </a:r>
            <a:endParaRPr lang="en-US" sz="1100" dirty="0"/>
          </a:p>
        </p:txBody>
      </p:sp>
      <p:sp>
        <p:nvSpPr>
          <p:cNvPr id="3" name="Text 1"/>
          <p:cNvSpPr/>
          <p:nvPr/>
        </p:nvSpPr>
        <p:spPr>
          <a:xfrm>
            <a:off x="640080" y="457200"/>
            <a:ext cx="10908792" cy="777240"/>
          </a:xfrm>
          <a:prstGeom prst="rect">
            <a:avLst/>
          </a:prstGeom>
          <a:noFill/>
          <a:ln/>
        </p:spPr>
        <p:txBody>
          <a:bodyPr wrap="square" lIns="0" tIns="0" rIns="0" bIns="0" rtlCol="0" anchor="ctr"/>
          <a:lstStyle/>
          <a:p>
            <a:pPr marL="0" indent="0" algn="l">
              <a:buNone/>
            </a:pPr>
            <a:r>
              <a:rPr lang="en-US" sz="3800" b="1" dirty="0">
                <a:solidFill>
                  <a:srgbClr val="1B2A2C"/>
                </a:solidFill>
                <a:latin typeface="Cambria" pitchFamily="34" charset="0"/>
                <a:ea typeface="Cambria" pitchFamily="34" charset="-122"/>
                <a:cs typeface="Cambria" pitchFamily="34" charset="-120"/>
              </a:rPr>
              <a:t>One question decides what may be said.</a:t>
            </a:r>
            <a:endParaRPr lang="en-US" sz="3800" dirty="0"/>
          </a:p>
        </p:txBody>
      </p:sp>
      <p:sp>
        <p:nvSpPr>
          <p:cNvPr id="4" name="Shape 2"/>
          <p:cNvSpPr/>
          <p:nvPr/>
        </p:nvSpPr>
        <p:spPr>
          <a:xfrm>
            <a:off x="640080" y="1536192"/>
            <a:ext cx="10908792" cy="658368"/>
          </a:xfrm>
          <a:prstGeom prst="roundRect">
            <a:avLst>
              <a:gd name="adj" fmla="val 8333"/>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5" name="Text 3"/>
          <p:cNvSpPr/>
          <p:nvPr/>
        </p:nvSpPr>
        <p:spPr>
          <a:xfrm>
            <a:off x="1051560" y="1536192"/>
            <a:ext cx="10058400" cy="658368"/>
          </a:xfrm>
          <a:prstGeom prst="rect">
            <a:avLst/>
          </a:prstGeom>
          <a:noFill/>
          <a:ln/>
        </p:spPr>
        <p:txBody>
          <a:bodyPr wrap="square" lIns="0" tIns="0" rIns="0" bIns="0" rtlCol="0" anchor="ctr"/>
          <a:lstStyle/>
          <a:p>
            <a:pPr marL="0" indent="0">
              <a:buNone/>
            </a:pPr>
            <a:r>
              <a:rPr lang="en-US" sz="1900" b="1" dirty="0">
                <a:solidFill>
                  <a:srgbClr val="C25A28"/>
                </a:solidFill>
                <a:latin typeface="Cambria" pitchFamily="34" charset="0"/>
                <a:ea typeface="Cambria" pitchFamily="34" charset="-122"/>
                <a:cs typeface="Cambria" pitchFamily="34" charset="-120"/>
              </a:rPr>
              <a:t>Is there a published protocol or guideline that defines an action?</a:t>
            </a:r>
            <a:endParaRPr lang="en-US" sz="1900" dirty="0"/>
          </a:p>
        </p:txBody>
      </p:sp>
      <p:sp>
        <p:nvSpPr>
          <p:cNvPr id="6" name="Shape 4"/>
          <p:cNvSpPr/>
          <p:nvPr/>
        </p:nvSpPr>
        <p:spPr>
          <a:xfrm>
            <a:off x="640080" y="2395728"/>
            <a:ext cx="3502152" cy="2194560"/>
          </a:xfrm>
          <a:prstGeom prst="roundRect">
            <a:avLst>
              <a:gd name="adj" fmla="val 2500"/>
            </a:avLst>
          </a:prstGeom>
          <a:solidFill>
            <a:srgbClr val="0E3B3E"/>
          </a:solidFill>
          <a:ln w="12700">
            <a:solidFill>
              <a:srgbClr val="0E3B3E"/>
            </a:solidFill>
            <a:prstDash val="solid"/>
          </a:ln>
        </p:spPr>
        <p:txBody>
          <a:bodyPr/>
          <a:lstStyle/>
          <a:p>
            <a:endParaRPr lang="en-US"/>
          </a:p>
        </p:txBody>
      </p:sp>
      <p:sp>
        <p:nvSpPr>
          <p:cNvPr id="7" name="Text 5"/>
          <p:cNvSpPr/>
          <p:nvPr/>
        </p:nvSpPr>
        <p:spPr>
          <a:xfrm>
            <a:off x="960120" y="2560320"/>
            <a:ext cx="2953512" cy="41148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TIER 1</a:t>
            </a:r>
            <a:endParaRPr lang="en-US" sz="2100" dirty="0"/>
          </a:p>
        </p:txBody>
      </p:sp>
      <p:sp>
        <p:nvSpPr>
          <p:cNvPr id="8" name="Text 6"/>
          <p:cNvSpPr/>
          <p:nvPr/>
        </p:nvSpPr>
        <p:spPr>
          <a:xfrm>
            <a:off x="960120" y="2999232"/>
            <a:ext cx="2953512" cy="548640"/>
          </a:xfrm>
          <a:prstGeom prst="rect">
            <a:avLst/>
          </a:prstGeom>
          <a:noFill/>
          <a:ln/>
        </p:spPr>
        <p:txBody>
          <a:bodyPr wrap="square" lIns="0" tIns="0" rIns="0" bIns="0" rtlCol="0" anchor="t"/>
          <a:lstStyle/>
          <a:p>
            <a:pPr marL="0" indent="0">
              <a:lnSpc>
                <a:spcPts val="1700"/>
              </a:lnSpc>
              <a:buNone/>
            </a:pPr>
            <a:r>
              <a:rPr lang="en-US" sz="1250" dirty="0">
                <a:solidFill>
                  <a:srgbClr val="C9DEDA"/>
                </a:solidFill>
                <a:latin typeface="Calibri" pitchFamily="34" charset="0"/>
                <a:ea typeface="Calibri" pitchFamily="34" charset="-122"/>
                <a:cs typeface="Calibri" pitchFamily="34" charset="-120"/>
              </a:rPr>
              <a:t>Yes — a protocol with a defined action</a:t>
            </a:r>
            <a:endParaRPr lang="en-US" sz="1250" dirty="0"/>
          </a:p>
        </p:txBody>
      </p:sp>
      <p:sp>
        <p:nvSpPr>
          <p:cNvPr id="9" name="Text 7"/>
          <p:cNvSpPr/>
          <p:nvPr/>
        </p:nvSpPr>
        <p:spPr>
          <a:xfrm>
            <a:off x="960120" y="3611880"/>
            <a:ext cx="2953512" cy="365760"/>
          </a:xfrm>
          <a:prstGeom prst="rect">
            <a:avLst/>
          </a:prstGeom>
          <a:noFill/>
          <a:ln/>
        </p:spPr>
        <p:txBody>
          <a:bodyPr wrap="square" lIns="0" tIns="0" rIns="0" bIns="0" rtlCol="0" anchor="ctr"/>
          <a:lstStyle/>
          <a:p>
            <a:pPr marL="0" indent="0">
              <a:buNone/>
            </a:pPr>
            <a:r>
              <a:rPr lang="en-US" sz="1550" b="1" dirty="0">
                <a:solidFill>
                  <a:srgbClr val="C9DEDA"/>
                </a:solidFill>
                <a:latin typeface="Calibri" pitchFamily="34" charset="0"/>
                <a:ea typeface="Calibri" pitchFamily="34" charset="-122"/>
                <a:cs typeface="Calibri" pitchFamily="34" charset="-120"/>
              </a:rPr>
              <a:t>Include prominently.</a:t>
            </a:r>
            <a:endParaRPr lang="en-US" sz="1550" dirty="0"/>
          </a:p>
        </p:txBody>
      </p:sp>
      <p:sp>
        <p:nvSpPr>
          <p:cNvPr id="10" name="Text 8"/>
          <p:cNvSpPr/>
          <p:nvPr/>
        </p:nvSpPr>
        <p:spPr>
          <a:xfrm>
            <a:off x="960120" y="4041648"/>
            <a:ext cx="2953512" cy="594360"/>
          </a:xfrm>
          <a:prstGeom prst="rect">
            <a:avLst/>
          </a:prstGeom>
          <a:noFill/>
          <a:ln/>
        </p:spPr>
        <p:txBody>
          <a:bodyPr wrap="square" lIns="0" tIns="0" rIns="0" bIns="0" rtlCol="0" anchor="t"/>
          <a:lstStyle/>
          <a:p>
            <a:pPr marL="0" indent="0">
              <a:lnSpc>
                <a:spcPts val="1800"/>
              </a:lnSpc>
              <a:buNone/>
            </a:pPr>
            <a:r>
              <a:rPr lang="en-US" sz="1300" i="1" dirty="0">
                <a:solidFill>
                  <a:srgbClr val="C9DEDA"/>
                </a:solidFill>
                <a:latin typeface="Calibri" pitchFamily="34" charset="0"/>
                <a:ea typeface="Calibri" pitchFamily="34" charset="-122"/>
                <a:cs typeface="Calibri" pitchFamily="34" charset="-120"/>
              </a:rPr>
              <a:t>“Standard care, not prediction.”</a:t>
            </a:r>
            <a:endParaRPr lang="en-US" sz="1300" dirty="0"/>
          </a:p>
        </p:txBody>
      </p:sp>
      <p:sp>
        <p:nvSpPr>
          <p:cNvPr id="11" name="Shape 9"/>
          <p:cNvSpPr/>
          <p:nvPr/>
        </p:nvSpPr>
        <p:spPr>
          <a:xfrm>
            <a:off x="4343400" y="2395728"/>
            <a:ext cx="3502152" cy="2194560"/>
          </a:xfrm>
          <a:prstGeom prst="roundRect">
            <a:avLst>
              <a:gd name="adj" fmla="val 2500"/>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12" name="Text 10"/>
          <p:cNvSpPr/>
          <p:nvPr/>
        </p:nvSpPr>
        <p:spPr>
          <a:xfrm>
            <a:off x="4663440" y="2560320"/>
            <a:ext cx="2953512" cy="411480"/>
          </a:xfrm>
          <a:prstGeom prst="rect">
            <a:avLst/>
          </a:prstGeom>
          <a:noFill/>
          <a:ln/>
        </p:spPr>
        <p:txBody>
          <a:bodyPr wrap="square" lIns="0" tIns="0" rIns="0" bIns="0" rtlCol="0" anchor="ctr"/>
          <a:lstStyle/>
          <a:p>
            <a:pPr marL="0" indent="0">
              <a:buNone/>
            </a:pPr>
            <a:r>
              <a:rPr lang="en-US" sz="2100" b="1" dirty="0">
                <a:solidFill>
                  <a:srgbClr val="0E3B3E"/>
                </a:solidFill>
                <a:latin typeface="Cambria" pitchFamily="34" charset="0"/>
                <a:ea typeface="Cambria" pitchFamily="34" charset="-122"/>
                <a:cs typeface="Cambria" pitchFamily="34" charset="-120"/>
              </a:rPr>
              <a:t>TIER 2</a:t>
            </a:r>
            <a:endParaRPr lang="en-US" sz="2100" dirty="0"/>
          </a:p>
        </p:txBody>
      </p:sp>
      <p:sp>
        <p:nvSpPr>
          <p:cNvPr id="13" name="Text 11"/>
          <p:cNvSpPr/>
          <p:nvPr/>
        </p:nvSpPr>
        <p:spPr>
          <a:xfrm>
            <a:off x="4663440" y="2999232"/>
            <a:ext cx="2953512" cy="548640"/>
          </a:xfrm>
          <a:prstGeom prst="rect">
            <a:avLst/>
          </a:prstGeom>
          <a:noFill/>
          <a:ln/>
        </p:spPr>
        <p:txBody>
          <a:bodyPr wrap="square" lIns="0" tIns="0" rIns="0" bIns="0" rtlCol="0" anchor="t"/>
          <a:lstStyle/>
          <a:p>
            <a:pPr marL="0" indent="0">
              <a:lnSpc>
                <a:spcPts val="1700"/>
              </a:lnSpc>
              <a:buNone/>
            </a:pPr>
            <a:r>
              <a:rPr lang="en-US" sz="1250" dirty="0">
                <a:solidFill>
                  <a:srgbClr val="5F7274"/>
                </a:solidFill>
                <a:latin typeface="Calibri" pitchFamily="34" charset="0"/>
                <a:ea typeface="Calibri" pitchFamily="34" charset="-122"/>
                <a:cs typeface="Calibri" pitchFamily="34" charset="-120"/>
              </a:rPr>
              <a:t>No protocol, but documented elevated risk</a:t>
            </a:r>
            <a:endParaRPr lang="en-US" sz="1250" dirty="0"/>
          </a:p>
        </p:txBody>
      </p:sp>
      <p:sp>
        <p:nvSpPr>
          <p:cNvPr id="14" name="Text 12"/>
          <p:cNvSpPr/>
          <p:nvPr/>
        </p:nvSpPr>
        <p:spPr>
          <a:xfrm>
            <a:off x="4663440" y="3611880"/>
            <a:ext cx="2953512" cy="365760"/>
          </a:xfrm>
          <a:prstGeom prst="rect">
            <a:avLst/>
          </a:prstGeom>
          <a:noFill/>
          <a:ln/>
        </p:spPr>
        <p:txBody>
          <a:bodyPr wrap="square" lIns="0" tIns="0" rIns="0" bIns="0" rtlCol="0" anchor="ctr"/>
          <a:lstStyle/>
          <a:p>
            <a:pPr marL="0" indent="0">
              <a:buNone/>
            </a:pPr>
            <a:r>
              <a:rPr lang="en-US" sz="1550" b="1" dirty="0">
                <a:solidFill>
                  <a:srgbClr val="1B2A2C"/>
                </a:solidFill>
                <a:latin typeface="Calibri" pitchFamily="34" charset="0"/>
                <a:ea typeface="Calibri" pitchFamily="34" charset="-122"/>
                <a:cs typeface="Calibri" pitchFamily="34" charset="-120"/>
              </a:rPr>
              <a:t>Include, framed as awareness.</a:t>
            </a:r>
            <a:endParaRPr lang="en-US" sz="1550" dirty="0"/>
          </a:p>
        </p:txBody>
      </p:sp>
      <p:sp>
        <p:nvSpPr>
          <p:cNvPr id="15" name="Text 13"/>
          <p:cNvSpPr/>
          <p:nvPr/>
        </p:nvSpPr>
        <p:spPr>
          <a:xfrm>
            <a:off x="4663440" y="4041648"/>
            <a:ext cx="2953512" cy="594360"/>
          </a:xfrm>
          <a:prstGeom prst="rect">
            <a:avLst/>
          </a:prstGeom>
          <a:noFill/>
          <a:ln/>
        </p:spPr>
        <p:txBody>
          <a:bodyPr wrap="square" lIns="0" tIns="0" rIns="0" bIns="0" rtlCol="0" anchor="t"/>
          <a:lstStyle/>
          <a:p>
            <a:pPr marL="0" indent="0">
              <a:lnSpc>
                <a:spcPts val="1800"/>
              </a:lnSpc>
              <a:buNone/>
            </a:pPr>
            <a:r>
              <a:rPr lang="en-US" sz="1300" i="1" dirty="0">
                <a:solidFill>
                  <a:srgbClr val="5F7274"/>
                </a:solidFill>
                <a:latin typeface="Calibri" pitchFamily="34" charset="0"/>
                <a:ea typeface="Calibri" pitchFamily="34" charset="-122"/>
                <a:cs typeface="Calibri" pitchFamily="34" charset="-120"/>
              </a:rPr>
              <a:t>“More common, not inevitable, treatable.”</a:t>
            </a:r>
            <a:endParaRPr lang="en-US" sz="1300" dirty="0"/>
          </a:p>
        </p:txBody>
      </p:sp>
      <p:sp>
        <p:nvSpPr>
          <p:cNvPr id="16" name="Shape 14"/>
          <p:cNvSpPr/>
          <p:nvPr/>
        </p:nvSpPr>
        <p:spPr>
          <a:xfrm>
            <a:off x="8046720" y="2395728"/>
            <a:ext cx="3502152" cy="2194560"/>
          </a:xfrm>
          <a:prstGeom prst="roundRect">
            <a:avLst>
              <a:gd name="adj" fmla="val 2500"/>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17" name="Text 15"/>
          <p:cNvSpPr/>
          <p:nvPr/>
        </p:nvSpPr>
        <p:spPr>
          <a:xfrm>
            <a:off x="8366760" y="2560320"/>
            <a:ext cx="2953512" cy="411480"/>
          </a:xfrm>
          <a:prstGeom prst="rect">
            <a:avLst/>
          </a:prstGeom>
          <a:noFill/>
          <a:ln/>
        </p:spPr>
        <p:txBody>
          <a:bodyPr wrap="square" lIns="0" tIns="0" rIns="0" bIns="0" rtlCol="0" anchor="ctr"/>
          <a:lstStyle/>
          <a:p>
            <a:pPr marL="0" indent="0">
              <a:buNone/>
            </a:pPr>
            <a:r>
              <a:rPr lang="en-US" sz="2100" b="1" dirty="0">
                <a:solidFill>
                  <a:srgbClr val="C25A28"/>
                </a:solidFill>
                <a:latin typeface="Cambria" pitchFamily="34" charset="0"/>
                <a:ea typeface="Cambria" pitchFamily="34" charset="-122"/>
                <a:cs typeface="Cambria" pitchFamily="34" charset="-120"/>
              </a:rPr>
              <a:t>TIER 3</a:t>
            </a:r>
            <a:endParaRPr lang="en-US" sz="2100" dirty="0"/>
          </a:p>
        </p:txBody>
      </p:sp>
      <p:sp>
        <p:nvSpPr>
          <p:cNvPr id="18" name="Text 16"/>
          <p:cNvSpPr/>
          <p:nvPr/>
        </p:nvSpPr>
        <p:spPr>
          <a:xfrm>
            <a:off x="8366760" y="2999232"/>
            <a:ext cx="2953512" cy="548640"/>
          </a:xfrm>
          <a:prstGeom prst="rect">
            <a:avLst/>
          </a:prstGeom>
          <a:noFill/>
          <a:ln/>
        </p:spPr>
        <p:txBody>
          <a:bodyPr wrap="square" lIns="0" tIns="0" rIns="0" bIns="0" rtlCol="0" anchor="t"/>
          <a:lstStyle/>
          <a:p>
            <a:pPr marL="0" indent="0">
              <a:lnSpc>
                <a:spcPts val="1700"/>
              </a:lnSpc>
              <a:buNone/>
            </a:pPr>
            <a:r>
              <a:rPr lang="en-US" sz="1250" dirty="0">
                <a:solidFill>
                  <a:srgbClr val="5F7274"/>
                </a:solidFill>
                <a:latin typeface="Calibri" pitchFamily="34" charset="0"/>
                <a:ea typeface="Calibri" pitchFamily="34" charset="-122"/>
                <a:cs typeface="Calibri" pitchFamily="34" charset="-120"/>
              </a:rPr>
              <a:t>Neither</a:t>
            </a:r>
            <a:endParaRPr lang="en-US" sz="1250" dirty="0"/>
          </a:p>
        </p:txBody>
      </p:sp>
      <p:sp>
        <p:nvSpPr>
          <p:cNvPr id="19" name="Text 17"/>
          <p:cNvSpPr/>
          <p:nvPr/>
        </p:nvSpPr>
        <p:spPr>
          <a:xfrm>
            <a:off x="8366760" y="3611880"/>
            <a:ext cx="2953512" cy="365760"/>
          </a:xfrm>
          <a:prstGeom prst="rect">
            <a:avLst/>
          </a:prstGeom>
          <a:noFill/>
          <a:ln/>
        </p:spPr>
        <p:txBody>
          <a:bodyPr wrap="square" lIns="0" tIns="0" rIns="0" bIns="0" rtlCol="0" anchor="ctr"/>
          <a:lstStyle/>
          <a:p>
            <a:pPr marL="0" indent="0">
              <a:buNone/>
            </a:pPr>
            <a:r>
              <a:rPr lang="en-US" sz="1550" b="1" dirty="0">
                <a:solidFill>
                  <a:srgbClr val="1B2A2C"/>
                </a:solidFill>
                <a:latin typeface="Calibri" pitchFamily="34" charset="0"/>
                <a:ea typeface="Calibri" pitchFamily="34" charset="-122"/>
                <a:cs typeface="Calibri" pitchFamily="34" charset="-120"/>
              </a:rPr>
              <a:t>Exclude entirely.</a:t>
            </a:r>
            <a:endParaRPr lang="en-US" sz="1550" dirty="0"/>
          </a:p>
        </p:txBody>
      </p:sp>
      <p:sp>
        <p:nvSpPr>
          <p:cNvPr id="20" name="Text 18"/>
          <p:cNvSpPr/>
          <p:nvPr/>
        </p:nvSpPr>
        <p:spPr>
          <a:xfrm>
            <a:off x="8366760" y="4041648"/>
            <a:ext cx="2953512" cy="594360"/>
          </a:xfrm>
          <a:prstGeom prst="rect">
            <a:avLst/>
          </a:prstGeom>
          <a:noFill/>
          <a:ln/>
        </p:spPr>
        <p:txBody>
          <a:bodyPr wrap="square" lIns="0" tIns="0" rIns="0" bIns="0" rtlCol="0" anchor="t"/>
          <a:lstStyle/>
          <a:p>
            <a:pPr marL="0" indent="0">
              <a:lnSpc>
                <a:spcPts val="1800"/>
              </a:lnSpc>
              <a:buNone/>
            </a:pPr>
            <a:r>
              <a:rPr lang="en-US" sz="1300" i="1" dirty="0">
                <a:solidFill>
                  <a:srgbClr val="5F7274"/>
                </a:solidFill>
                <a:latin typeface="Calibri" pitchFamily="34" charset="0"/>
                <a:ea typeface="Calibri" pitchFamily="34" charset="-122"/>
                <a:cs typeface="Calibri" pitchFamily="34" charset="-120"/>
              </a:rPr>
              <a:t>Not generated, even on request.</a:t>
            </a:r>
            <a:endParaRPr lang="en-US" sz="1300" dirty="0"/>
          </a:p>
        </p:txBody>
      </p:sp>
      <p:sp>
        <p:nvSpPr>
          <p:cNvPr id="21" name="Text 19"/>
          <p:cNvSpPr/>
          <p:nvPr/>
        </p:nvSpPr>
        <p:spPr>
          <a:xfrm>
            <a:off x="640080" y="4800600"/>
            <a:ext cx="3502152" cy="274320"/>
          </a:xfrm>
          <a:prstGeom prst="rect">
            <a:avLst/>
          </a:prstGeom>
          <a:noFill/>
          <a:ln/>
        </p:spPr>
        <p:txBody>
          <a:bodyPr wrap="square" lIns="0" tIns="0" rIns="0" bIns="0" rtlCol="0" anchor="ctr"/>
          <a:lstStyle/>
          <a:p>
            <a:pPr marL="0" indent="0">
              <a:buNone/>
            </a:pPr>
            <a:r>
              <a:rPr lang="en-US" sz="1300" b="1" dirty="0">
                <a:solidFill>
                  <a:srgbClr val="0E3B3E"/>
                </a:solidFill>
                <a:latin typeface="Calibri" pitchFamily="34" charset="0"/>
                <a:ea typeface="Calibri" pitchFamily="34" charset="-122"/>
                <a:cs typeface="Calibri" pitchFamily="34" charset="-120"/>
              </a:rPr>
              <a:t>Secondary findings</a:t>
            </a:r>
            <a:endParaRPr lang="en-US" sz="1300" dirty="0"/>
          </a:p>
        </p:txBody>
      </p:sp>
      <p:sp>
        <p:nvSpPr>
          <p:cNvPr id="22" name="Text 20"/>
          <p:cNvSpPr/>
          <p:nvPr/>
        </p:nvSpPr>
        <p:spPr>
          <a:xfrm>
            <a:off x="640080" y="5093208"/>
            <a:ext cx="3502152" cy="8686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Flagged, never counselled. Routed to genetic counselling — they carry whole-family implications.</a:t>
            </a:r>
            <a:endParaRPr lang="en-US" sz="1150" dirty="0"/>
          </a:p>
        </p:txBody>
      </p:sp>
      <p:sp>
        <p:nvSpPr>
          <p:cNvPr id="23" name="Text 21"/>
          <p:cNvSpPr/>
          <p:nvPr/>
        </p:nvSpPr>
        <p:spPr>
          <a:xfrm>
            <a:off x="4343400" y="4800600"/>
            <a:ext cx="3502152" cy="274320"/>
          </a:xfrm>
          <a:prstGeom prst="rect">
            <a:avLst/>
          </a:prstGeom>
          <a:noFill/>
          <a:ln/>
        </p:spPr>
        <p:txBody>
          <a:bodyPr wrap="square" lIns="0" tIns="0" rIns="0" bIns="0" rtlCol="0" anchor="ctr"/>
          <a:lstStyle/>
          <a:p>
            <a:pPr marL="0" indent="0">
              <a:buNone/>
            </a:pPr>
            <a:r>
              <a:rPr lang="en-US" sz="1300" b="1" dirty="0">
                <a:solidFill>
                  <a:srgbClr val="0E3B3E"/>
                </a:solidFill>
                <a:latin typeface="Calibri" pitchFamily="34" charset="0"/>
                <a:ea typeface="Calibri" pitchFamily="34" charset="-122"/>
                <a:cs typeface="Calibri" pitchFamily="34" charset="-120"/>
              </a:rPr>
              <a:t>Minors</a:t>
            </a:r>
            <a:endParaRPr lang="en-US" sz="1300" dirty="0"/>
          </a:p>
        </p:txBody>
      </p:sp>
      <p:sp>
        <p:nvSpPr>
          <p:cNvPr id="24" name="Text 22"/>
          <p:cNvSpPr/>
          <p:nvPr/>
        </p:nvSpPr>
        <p:spPr>
          <a:xfrm>
            <a:off x="4343400" y="5093208"/>
            <a:ext cx="3502152" cy="8686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Adult-onset information is withheld unless there is action to take in childhood.</a:t>
            </a:r>
            <a:endParaRPr lang="en-US" sz="1150" dirty="0"/>
          </a:p>
        </p:txBody>
      </p:sp>
      <p:sp>
        <p:nvSpPr>
          <p:cNvPr id="25" name="Text 23"/>
          <p:cNvSpPr/>
          <p:nvPr/>
        </p:nvSpPr>
        <p:spPr>
          <a:xfrm>
            <a:off x="8046720" y="4800600"/>
            <a:ext cx="3502152" cy="274320"/>
          </a:xfrm>
          <a:prstGeom prst="rect">
            <a:avLst/>
          </a:prstGeom>
          <a:noFill/>
          <a:ln/>
        </p:spPr>
        <p:txBody>
          <a:bodyPr wrap="square" lIns="0" tIns="0" rIns="0" bIns="0" rtlCol="0" anchor="ctr"/>
          <a:lstStyle/>
          <a:p>
            <a:pPr marL="0" indent="0">
              <a:buNone/>
            </a:pPr>
            <a:r>
              <a:rPr lang="en-US" sz="1300" b="1" dirty="0">
                <a:solidFill>
                  <a:srgbClr val="0E3B3E"/>
                </a:solidFill>
                <a:latin typeface="Calibri" pitchFamily="34" charset="0"/>
                <a:ea typeface="Calibri" pitchFamily="34" charset="-122"/>
                <a:cs typeface="Calibri" pitchFamily="34" charset="-120"/>
              </a:rPr>
              <a:t>A VUS</a:t>
            </a:r>
            <a:endParaRPr lang="en-US" sz="1300" dirty="0"/>
          </a:p>
        </p:txBody>
      </p:sp>
      <p:sp>
        <p:nvSpPr>
          <p:cNvPr id="26" name="Text 24"/>
          <p:cNvSpPr/>
          <p:nvPr/>
        </p:nvSpPr>
        <p:spPr>
          <a:xfrm>
            <a:off x="8046720" y="5093208"/>
            <a:ext cx="3502152" cy="868680"/>
          </a:xfrm>
          <a:prstGeom prst="rect">
            <a:avLst/>
          </a:prstGeom>
          <a:noFill/>
          <a:ln/>
        </p:spPr>
        <p:txBody>
          <a:bodyPr wrap="square" lIns="0" tIns="0" rIns="0" bIns="0" rtlCol="0" anchor="t"/>
          <a:lstStyle/>
          <a:p>
            <a:pPr marL="0" indent="0">
              <a:lnSpc>
                <a:spcPts val="1500"/>
              </a:lnSpc>
              <a:buNone/>
            </a:pPr>
            <a:r>
              <a:rPr lang="en-US" sz="1150" dirty="0">
                <a:solidFill>
                  <a:srgbClr val="5F7274"/>
                </a:solidFill>
                <a:latin typeface="Calibri" pitchFamily="34" charset="0"/>
                <a:ea typeface="Calibri" pitchFamily="34" charset="-122"/>
                <a:cs typeface="Calibri" pitchFamily="34" charset="-120"/>
              </a:rPr>
              <a:t>Bypasses the layer entirely. Carries no risk information; must not drive surveillance or cascade testing.</a:t>
            </a:r>
            <a:endParaRPr lang="en-US" sz="1150" dirty="0"/>
          </a:p>
        </p:txBody>
      </p:sp>
      <p:sp>
        <p:nvSpPr>
          <p:cNvPr id="27" name="Text 25"/>
          <p:cNvSpPr/>
          <p:nvPr/>
        </p:nvSpPr>
        <p:spPr>
          <a:xfrm>
            <a:off x="640080" y="6327648"/>
            <a:ext cx="10908792" cy="274320"/>
          </a:xfrm>
          <a:prstGeom prst="rect">
            <a:avLst/>
          </a:prstGeom>
          <a:noFill/>
          <a:ln/>
        </p:spPr>
        <p:txBody>
          <a:bodyPr wrap="square" lIns="0" tIns="0" rIns="0" bIns="0" rtlCol="0" anchor="ctr"/>
          <a:lstStyle/>
          <a:p>
            <a:pPr marL="0" indent="0">
              <a:buNone/>
            </a:pPr>
            <a:r>
              <a:rPr lang="en-US" sz="1000" i="1" dirty="0">
                <a:solidFill>
                  <a:srgbClr val="5F7274"/>
                </a:solidFill>
                <a:latin typeface="Calibri" pitchFamily="34" charset="0"/>
                <a:ea typeface="Calibri" pitchFamily="34" charset="-122"/>
                <a:cs typeface="Calibri" pitchFamily="34" charset="-120"/>
              </a:rPr>
              <a:t>Percentages in Tier 1 and Tier 2 appear only if retrieved in the same session. In Tier 3, never. Full decision flow: docs/risk_layer.png.</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WHY A CLINICIAN WOULD USE IT</a:t>
            </a:r>
            <a:endParaRPr lang="en-US" sz="1100" dirty="0"/>
          </a:p>
        </p:txBody>
      </p:sp>
      <p:sp>
        <p:nvSpPr>
          <p:cNvPr id="3" name="Text 1"/>
          <p:cNvSpPr/>
          <p:nvPr/>
        </p:nvSpPr>
        <p:spPr>
          <a:xfrm>
            <a:off x="640080" y="457200"/>
            <a:ext cx="10908792" cy="777240"/>
          </a:xfrm>
          <a:prstGeom prst="rect">
            <a:avLst/>
          </a:prstGeom>
          <a:noFill/>
          <a:ln/>
        </p:spPr>
        <p:txBody>
          <a:bodyPr wrap="square" lIns="0" tIns="0" rIns="0" bIns="0" rtlCol="0" anchor="ctr"/>
          <a:lstStyle/>
          <a:p>
            <a:pPr marL="0" indent="0" algn="l">
              <a:buNone/>
            </a:pPr>
            <a:r>
              <a:rPr lang="en-US" sz="3800" b="1" dirty="0">
                <a:solidFill>
                  <a:srgbClr val="1B2A2C"/>
                </a:solidFill>
                <a:latin typeface="Cambria" pitchFamily="34" charset="0"/>
                <a:ea typeface="Cambria" pitchFamily="34" charset="-122"/>
                <a:cs typeface="Cambria" pitchFamily="34" charset="-120"/>
              </a:rPr>
              <a:t>The refusals are the product.</a:t>
            </a:r>
            <a:endParaRPr lang="en-US" sz="3800" dirty="0"/>
          </a:p>
        </p:txBody>
      </p:sp>
      <p:sp>
        <p:nvSpPr>
          <p:cNvPr id="4" name="Shape 2"/>
          <p:cNvSpPr/>
          <p:nvPr/>
        </p:nvSpPr>
        <p:spPr>
          <a:xfrm>
            <a:off x="640080" y="1572768"/>
            <a:ext cx="10908792" cy="1060704"/>
          </a:xfrm>
          <a:prstGeom prst="roundRect">
            <a:avLst>
              <a:gd name="adj" fmla="val 5172"/>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5" name="Shape 3"/>
          <p:cNvSpPr/>
          <p:nvPr/>
        </p:nvSpPr>
        <p:spPr>
          <a:xfrm>
            <a:off x="960120" y="1901952"/>
            <a:ext cx="402336" cy="402336"/>
          </a:xfrm>
          <a:prstGeom prst="ellipse">
            <a:avLst/>
          </a:prstGeom>
          <a:solidFill>
            <a:srgbClr val="3E8F86"/>
          </a:solidFill>
          <a:ln w="12700">
            <a:solidFill>
              <a:srgbClr val="3E8F86"/>
            </a:solidFill>
            <a:prstDash val="solid"/>
          </a:ln>
        </p:spPr>
        <p:txBody>
          <a:bodyPr/>
          <a:lstStyle/>
          <a:p>
            <a:endParaRPr lang="en-US"/>
          </a:p>
        </p:txBody>
      </p:sp>
      <p:sp>
        <p:nvSpPr>
          <p:cNvPr id="6" name="Text 4"/>
          <p:cNvSpPr/>
          <p:nvPr/>
        </p:nvSpPr>
        <p:spPr>
          <a:xfrm>
            <a:off x="960120" y="1901952"/>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a:t>
            </a:r>
            <a:endParaRPr lang="en-US" sz="1400" dirty="0"/>
          </a:p>
        </p:txBody>
      </p:sp>
      <p:sp>
        <p:nvSpPr>
          <p:cNvPr id="7" name="Text 5"/>
          <p:cNvSpPr/>
          <p:nvPr/>
        </p:nvSpPr>
        <p:spPr>
          <a:xfrm>
            <a:off x="1554480" y="1682496"/>
            <a:ext cx="9601200" cy="365760"/>
          </a:xfrm>
          <a:prstGeom prst="rect">
            <a:avLst/>
          </a:prstGeom>
          <a:noFill/>
          <a:ln/>
        </p:spPr>
        <p:txBody>
          <a:bodyPr wrap="square" lIns="0" tIns="0" rIns="0" bIns="0" rtlCol="0" anchor="ctr"/>
          <a:lstStyle/>
          <a:p>
            <a:pPr marL="0" indent="0">
              <a:buNone/>
            </a:pPr>
            <a:r>
              <a:rPr lang="en-US" sz="1700" b="1" dirty="0">
                <a:solidFill>
                  <a:srgbClr val="0E3B3E"/>
                </a:solidFill>
                <a:latin typeface="Cambria" pitchFamily="34" charset="0"/>
                <a:ea typeface="Cambria" pitchFamily="34" charset="-122"/>
                <a:cs typeface="Cambria" pitchFamily="34" charset="-120"/>
              </a:rPr>
              <a:t>It abstains, loudly</a:t>
            </a:r>
            <a:endParaRPr lang="en-US" sz="1700" dirty="0"/>
          </a:p>
        </p:txBody>
      </p:sp>
      <p:sp>
        <p:nvSpPr>
          <p:cNvPr id="8" name="Text 6"/>
          <p:cNvSpPr/>
          <p:nvPr/>
        </p:nvSpPr>
        <p:spPr>
          <a:xfrm>
            <a:off x="1554480" y="2048256"/>
            <a:ext cx="9601200" cy="530352"/>
          </a:xfrm>
          <a:prstGeom prst="rect">
            <a:avLst/>
          </a:prstGeom>
          <a:noFill/>
          <a:ln/>
        </p:spPr>
        <p:txBody>
          <a:bodyPr wrap="square" lIns="0" tIns="0" rIns="0" bIns="0" rtlCol="0" anchor="t"/>
          <a:lstStyle/>
          <a:p>
            <a:pPr marL="0" indent="0">
              <a:lnSpc>
                <a:spcPts val="1700"/>
              </a:lnSpc>
              <a:buNone/>
            </a:pPr>
            <a:r>
              <a:rPr lang="en-US" sz="1250" dirty="0">
                <a:solidFill>
                  <a:srgbClr val="1B2A2C"/>
                </a:solidFill>
                <a:latin typeface="Calibri" pitchFamily="34" charset="0"/>
                <a:ea typeface="Calibri" pitchFamily="34" charset="-122"/>
                <a:cs typeface="Calibri" pitchFamily="34" charset="-120"/>
              </a:rPr>
              <a:t>“There is no published surveillance protocol for this gene” is a legitimate output — and one families rarely get. The FDA-cleared autism diagnostic aid Canvas Dx abstains on 37% of real-world cases; visible limits are why clinicians trust a tool.</a:t>
            </a:r>
            <a:endParaRPr lang="en-US" sz="1250" dirty="0"/>
          </a:p>
        </p:txBody>
      </p:sp>
      <p:sp>
        <p:nvSpPr>
          <p:cNvPr id="9" name="Shape 7"/>
          <p:cNvSpPr/>
          <p:nvPr/>
        </p:nvSpPr>
        <p:spPr>
          <a:xfrm>
            <a:off x="640080" y="2770632"/>
            <a:ext cx="10908792" cy="1060704"/>
          </a:xfrm>
          <a:prstGeom prst="roundRect">
            <a:avLst>
              <a:gd name="adj" fmla="val 5172"/>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10" name="Shape 8"/>
          <p:cNvSpPr/>
          <p:nvPr/>
        </p:nvSpPr>
        <p:spPr>
          <a:xfrm>
            <a:off x="960120" y="3099816"/>
            <a:ext cx="402336" cy="402336"/>
          </a:xfrm>
          <a:prstGeom prst="ellipse">
            <a:avLst/>
          </a:prstGeom>
          <a:solidFill>
            <a:srgbClr val="C25A28"/>
          </a:solidFill>
          <a:ln w="12700">
            <a:solidFill>
              <a:srgbClr val="C25A28"/>
            </a:solidFill>
            <a:prstDash val="solid"/>
          </a:ln>
        </p:spPr>
        <p:txBody>
          <a:bodyPr/>
          <a:lstStyle/>
          <a:p>
            <a:endParaRPr lang="en-US"/>
          </a:p>
        </p:txBody>
      </p:sp>
      <p:sp>
        <p:nvSpPr>
          <p:cNvPr id="11" name="Text 9"/>
          <p:cNvSpPr/>
          <p:nvPr/>
        </p:nvSpPr>
        <p:spPr>
          <a:xfrm>
            <a:off x="960120" y="3099816"/>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1554480" y="2880360"/>
            <a:ext cx="9601200" cy="365760"/>
          </a:xfrm>
          <a:prstGeom prst="rect">
            <a:avLst/>
          </a:prstGeom>
          <a:noFill/>
          <a:ln/>
        </p:spPr>
        <p:txBody>
          <a:bodyPr wrap="square" lIns="0" tIns="0" rIns="0" bIns="0" rtlCol="0" anchor="ctr"/>
          <a:lstStyle/>
          <a:p>
            <a:pPr marL="0" indent="0">
              <a:buNone/>
            </a:pPr>
            <a:r>
              <a:rPr lang="en-US" sz="1700" b="1" dirty="0">
                <a:solidFill>
                  <a:srgbClr val="0E3B3E"/>
                </a:solidFill>
                <a:latin typeface="Cambria" pitchFamily="34" charset="0"/>
                <a:ea typeface="Cambria" pitchFamily="34" charset="-122"/>
                <a:cs typeface="Cambria" pitchFamily="34" charset="-120"/>
              </a:rPr>
              <a:t>It never decides eligibility</a:t>
            </a:r>
            <a:endParaRPr lang="en-US" sz="1700" dirty="0"/>
          </a:p>
        </p:txBody>
      </p:sp>
      <p:sp>
        <p:nvSpPr>
          <p:cNvPr id="13" name="Text 11"/>
          <p:cNvSpPr/>
          <p:nvPr/>
        </p:nvSpPr>
        <p:spPr>
          <a:xfrm>
            <a:off x="1554480" y="3246120"/>
            <a:ext cx="9601200" cy="530352"/>
          </a:xfrm>
          <a:prstGeom prst="rect">
            <a:avLst/>
          </a:prstGeom>
          <a:noFill/>
          <a:ln/>
        </p:spPr>
        <p:txBody>
          <a:bodyPr wrap="square" lIns="0" tIns="0" rIns="0" bIns="0" rtlCol="0" anchor="t"/>
          <a:lstStyle/>
          <a:p>
            <a:pPr marL="0" indent="0">
              <a:lnSpc>
                <a:spcPts val="1700"/>
              </a:lnSpc>
              <a:buNone/>
            </a:pPr>
            <a:r>
              <a:rPr lang="en-US" sz="1250" dirty="0">
                <a:solidFill>
                  <a:srgbClr val="1B2A2C"/>
                </a:solidFill>
                <a:latin typeface="Calibri" pitchFamily="34" charset="0"/>
                <a:ea typeface="Calibri" pitchFamily="34" charset="-122"/>
                <a:cs typeface="Calibri" pitchFamily="34" charset="-120"/>
              </a:rPr>
              <a:t>Whether testing is recommended is a clinical question with a published answer. Whether this person qualifies is a policy question for their health system. It reports the first and routes the second — never “you qualify”.</a:t>
            </a:r>
            <a:endParaRPr lang="en-US" sz="1250" dirty="0"/>
          </a:p>
        </p:txBody>
      </p:sp>
      <p:sp>
        <p:nvSpPr>
          <p:cNvPr id="14" name="Shape 12"/>
          <p:cNvSpPr/>
          <p:nvPr/>
        </p:nvSpPr>
        <p:spPr>
          <a:xfrm>
            <a:off x="640080" y="3968496"/>
            <a:ext cx="10908792" cy="1060704"/>
          </a:xfrm>
          <a:prstGeom prst="roundRect">
            <a:avLst>
              <a:gd name="adj" fmla="val 5172"/>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15" name="Shape 13"/>
          <p:cNvSpPr/>
          <p:nvPr/>
        </p:nvSpPr>
        <p:spPr>
          <a:xfrm>
            <a:off x="960120" y="4297680"/>
            <a:ext cx="402336" cy="402336"/>
          </a:xfrm>
          <a:prstGeom prst="ellipse">
            <a:avLst/>
          </a:prstGeom>
          <a:solidFill>
            <a:srgbClr val="3E8F86"/>
          </a:solidFill>
          <a:ln w="12700">
            <a:solidFill>
              <a:srgbClr val="3E8F86"/>
            </a:solidFill>
            <a:prstDash val="solid"/>
          </a:ln>
        </p:spPr>
        <p:txBody>
          <a:bodyPr/>
          <a:lstStyle/>
          <a:p>
            <a:endParaRPr lang="en-US"/>
          </a:p>
        </p:txBody>
      </p:sp>
      <p:sp>
        <p:nvSpPr>
          <p:cNvPr id="16" name="Text 14"/>
          <p:cNvSpPr/>
          <p:nvPr/>
        </p:nvSpPr>
        <p:spPr>
          <a:xfrm>
            <a:off x="960120" y="4297680"/>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7" name="Text 15"/>
          <p:cNvSpPr/>
          <p:nvPr/>
        </p:nvSpPr>
        <p:spPr>
          <a:xfrm>
            <a:off x="1554480" y="4078224"/>
            <a:ext cx="9601200" cy="365760"/>
          </a:xfrm>
          <a:prstGeom prst="rect">
            <a:avLst/>
          </a:prstGeom>
          <a:noFill/>
          <a:ln/>
        </p:spPr>
        <p:txBody>
          <a:bodyPr wrap="square" lIns="0" tIns="0" rIns="0" bIns="0" rtlCol="0" anchor="ctr"/>
          <a:lstStyle/>
          <a:p>
            <a:pPr marL="0" indent="0">
              <a:buNone/>
            </a:pPr>
            <a:r>
              <a:rPr lang="en-US" sz="1700" b="1" dirty="0">
                <a:solidFill>
                  <a:srgbClr val="0E3B3E"/>
                </a:solidFill>
                <a:latin typeface="Cambria" pitchFamily="34" charset="0"/>
                <a:ea typeface="Cambria" pitchFamily="34" charset="-122"/>
                <a:cs typeface="Cambria" pitchFamily="34" charset="-120"/>
              </a:rPr>
              <a:t>De-identification is enforced in code</a:t>
            </a:r>
            <a:endParaRPr lang="en-US" sz="1700" dirty="0"/>
          </a:p>
        </p:txBody>
      </p:sp>
      <p:sp>
        <p:nvSpPr>
          <p:cNvPr id="18" name="Text 16"/>
          <p:cNvSpPr/>
          <p:nvPr/>
        </p:nvSpPr>
        <p:spPr>
          <a:xfrm>
            <a:off x="1554480" y="4443984"/>
            <a:ext cx="9601200" cy="530352"/>
          </a:xfrm>
          <a:prstGeom prst="rect">
            <a:avLst/>
          </a:prstGeom>
          <a:noFill/>
          <a:ln/>
        </p:spPr>
        <p:txBody>
          <a:bodyPr wrap="square" lIns="0" tIns="0" rIns="0" bIns="0" rtlCol="0" anchor="t"/>
          <a:lstStyle/>
          <a:p>
            <a:pPr marL="0" indent="0">
              <a:lnSpc>
                <a:spcPts val="1700"/>
              </a:lnSpc>
              <a:buNone/>
            </a:pPr>
            <a:r>
              <a:rPr lang="en-US" sz="1250" dirty="0">
                <a:solidFill>
                  <a:srgbClr val="1B2A2C"/>
                </a:solidFill>
                <a:latin typeface="Calibri" pitchFamily="34" charset="0"/>
                <a:ea typeface="Calibri" pitchFamily="34" charset="-122"/>
                <a:cs typeface="Calibri" pitchFamily="34" charset="-120"/>
              </a:rPr>
              <a:t>One identifier ruleset, shared by the parser and the renderer so they cannot drift. render_brief.py refuses to write the file if it finds an identifier — writing is the step that makes a leak durable, so that is the step that stops.</a:t>
            </a:r>
            <a:endParaRPr lang="en-US" sz="1250" dirty="0"/>
          </a:p>
        </p:txBody>
      </p:sp>
      <p:sp>
        <p:nvSpPr>
          <p:cNvPr id="19" name="Shape 17"/>
          <p:cNvSpPr/>
          <p:nvPr/>
        </p:nvSpPr>
        <p:spPr>
          <a:xfrm>
            <a:off x="640080" y="5166360"/>
            <a:ext cx="10908792" cy="1060704"/>
          </a:xfrm>
          <a:prstGeom prst="roundRect">
            <a:avLst>
              <a:gd name="adj" fmla="val 5172"/>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20" name="Shape 18"/>
          <p:cNvSpPr/>
          <p:nvPr/>
        </p:nvSpPr>
        <p:spPr>
          <a:xfrm>
            <a:off x="960120" y="5495544"/>
            <a:ext cx="402336" cy="402336"/>
          </a:xfrm>
          <a:prstGeom prst="ellipse">
            <a:avLst/>
          </a:prstGeom>
          <a:solidFill>
            <a:srgbClr val="C25A28"/>
          </a:solidFill>
          <a:ln w="12700">
            <a:solidFill>
              <a:srgbClr val="C25A28"/>
            </a:solidFill>
            <a:prstDash val="solid"/>
          </a:ln>
        </p:spPr>
        <p:txBody>
          <a:bodyPr/>
          <a:lstStyle/>
          <a:p>
            <a:endParaRPr lang="en-US"/>
          </a:p>
        </p:txBody>
      </p:sp>
      <p:sp>
        <p:nvSpPr>
          <p:cNvPr id="21" name="Text 19"/>
          <p:cNvSpPr/>
          <p:nvPr/>
        </p:nvSpPr>
        <p:spPr>
          <a:xfrm>
            <a:off x="960120" y="5495544"/>
            <a:ext cx="402336" cy="402336"/>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
            </a:r>
            <a:endParaRPr lang="en-US" sz="1400" dirty="0"/>
          </a:p>
        </p:txBody>
      </p:sp>
      <p:sp>
        <p:nvSpPr>
          <p:cNvPr id="22" name="Text 20"/>
          <p:cNvSpPr/>
          <p:nvPr/>
        </p:nvSpPr>
        <p:spPr>
          <a:xfrm>
            <a:off x="1554480" y="5276088"/>
            <a:ext cx="9601200" cy="365760"/>
          </a:xfrm>
          <a:prstGeom prst="rect">
            <a:avLst/>
          </a:prstGeom>
          <a:noFill/>
          <a:ln/>
        </p:spPr>
        <p:txBody>
          <a:bodyPr wrap="square" lIns="0" tIns="0" rIns="0" bIns="0" rtlCol="0" anchor="ctr"/>
          <a:lstStyle/>
          <a:p>
            <a:pPr marL="0" indent="0">
              <a:buNone/>
            </a:pPr>
            <a:r>
              <a:rPr lang="en-US" sz="1700" b="1" dirty="0">
                <a:solidFill>
                  <a:srgbClr val="0E3B3E"/>
                </a:solidFill>
                <a:latin typeface="Cambria" pitchFamily="34" charset="0"/>
                <a:ea typeface="Cambria" pitchFamily="34" charset="-122"/>
                <a:cs typeface="Cambria" pitchFamily="34" charset="-120"/>
              </a:rPr>
              <a:t>It shows its basis for every assertion</a:t>
            </a:r>
            <a:endParaRPr lang="en-US" sz="1700" dirty="0"/>
          </a:p>
        </p:txBody>
      </p:sp>
      <p:sp>
        <p:nvSpPr>
          <p:cNvPr id="23" name="Text 21"/>
          <p:cNvSpPr/>
          <p:nvPr/>
        </p:nvSpPr>
        <p:spPr>
          <a:xfrm>
            <a:off x="1554480" y="5641848"/>
            <a:ext cx="9601200" cy="530352"/>
          </a:xfrm>
          <a:prstGeom prst="rect">
            <a:avLst/>
          </a:prstGeom>
          <a:noFill/>
          <a:ln/>
        </p:spPr>
        <p:txBody>
          <a:bodyPr wrap="square" lIns="0" tIns="0" rIns="0" bIns="0" rtlCol="0" anchor="t"/>
          <a:lstStyle/>
          <a:p>
            <a:pPr marL="0" indent="0">
              <a:lnSpc>
                <a:spcPts val="1700"/>
              </a:lnSpc>
              <a:buNone/>
            </a:pPr>
            <a:r>
              <a:rPr lang="en-US" sz="1250" dirty="0">
                <a:solidFill>
                  <a:srgbClr val="1B2A2C"/>
                </a:solidFill>
                <a:latin typeface="Calibri" pitchFamily="34" charset="0"/>
                <a:ea typeface="Calibri" pitchFamily="34" charset="-122"/>
                <a:cs typeface="Calibri" pitchFamily="34" charset="-120"/>
              </a:rPr>
              <a:t>Which is what keeps it inside the 21st Century Cures Act §3060 clinical-decision-support carve-out rather than in medical-device territory: the clinician can independently review the basis for everything it says.</a:t>
            </a:r>
            <a:endParaRPr lang="en-US" sz="1250" dirty="0"/>
          </a:p>
        </p:txBody>
      </p:sp>
      <p:sp>
        <p:nvSpPr>
          <p:cNvPr id="24" name="Text 22"/>
          <p:cNvSpPr/>
          <p:nvPr/>
        </p:nvSpPr>
        <p:spPr>
          <a:xfrm>
            <a:off x="640080" y="6327648"/>
            <a:ext cx="10908792" cy="274320"/>
          </a:xfrm>
          <a:prstGeom prst="rect">
            <a:avLst/>
          </a:prstGeom>
          <a:noFill/>
          <a:ln/>
        </p:spPr>
        <p:txBody>
          <a:bodyPr wrap="square" lIns="0" tIns="0" rIns="0" bIns="0" rtlCol="0" anchor="ctr"/>
          <a:lstStyle/>
          <a:p>
            <a:pPr marL="0" indent="0">
              <a:buNone/>
            </a:pPr>
            <a:r>
              <a:rPr lang="en-US" sz="1000" i="1" dirty="0">
                <a:solidFill>
                  <a:srgbClr val="5F7274"/>
                </a:solidFill>
                <a:latin typeface="Calibri" pitchFamily="34" charset="0"/>
                <a:ea typeface="Calibri" pitchFamily="34" charset="-122"/>
                <a:cs typeface="Calibri" pitchFamily="34" charset="-120"/>
              </a:rPr>
              <a:t>Ten written guardrails in total, in SKILL.md and README.md. Sources: Salomon et al., Scientific Reports, 2025.</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STATE OF THE BUILD</a:t>
            </a:r>
            <a:endParaRPr lang="en-US" sz="1100" dirty="0"/>
          </a:p>
        </p:txBody>
      </p:sp>
      <p:sp>
        <p:nvSpPr>
          <p:cNvPr id="3" name="Text 1"/>
          <p:cNvSpPr/>
          <p:nvPr/>
        </p:nvSpPr>
        <p:spPr>
          <a:xfrm>
            <a:off x="640080" y="457200"/>
            <a:ext cx="10908792" cy="777240"/>
          </a:xfrm>
          <a:prstGeom prst="rect">
            <a:avLst/>
          </a:prstGeom>
          <a:noFill/>
          <a:ln/>
        </p:spPr>
        <p:txBody>
          <a:bodyPr wrap="square" lIns="0" tIns="0" rIns="0" bIns="0" rtlCol="0" anchor="ctr"/>
          <a:lstStyle/>
          <a:p>
            <a:pPr marL="0" indent="0" algn="l">
              <a:buNone/>
            </a:pPr>
            <a:r>
              <a:rPr lang="en-US" sz="3800" b="1" dirty="0">
                <a:solidFill>
                  <a:srgbClr val="1B2A2C"/>
                </a:solidFill>
                <a:latin typeface="Cambria" pitchFamily="34" charset="0"/>
                <a:ea typeface="Cambria" pitchFamily="34" charset="-122"/>
                <a:cs typeface="Cambria" pitchFamily="34" charset="-120"/>
              </a:rPr>
              <a:t>Complete, tested, and deliberately small.</a:t>
            </a:r>
            <a:endParaRPr lang="en-US" sz="3800" dirty="0"/>
          </a:p>
        </p:txBody>
      </p:sp>
      <p:sp>
        <p:nvSpPr>
          <p:cNvPr id="4" name="Shape 2"/>
          <p:cNvSpPr/>
          <p:nvPr/>
        </p:nvSpPr>
        <p:spPr>
          <a:xfrm>
            <a:off x="640080" y="1572768"/>
            <a:ext cx="2624328" cy="2697480"/>
          </a:xfrm>
          <a:prstGeom prst="roundRect">
            <a:avLst>
              <a:gd name="adj" fmla="val 2091"/>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5" name="Text 3"/>
          <p:cNvSpPr/>
          <p:nvPr/>
        </p:nvSpPr>
        <p:spPr>
          <a:xfrm>
            <a:off x="914400" y="1783080"/>
            <a:ext cx="2075688" cy="868680"/>
          </a:xfrm>
          <a:prstGeom prst="rect">
            <a:avLst/>
          </a:prstGeom>
          <a:noFill/>
          <a:ln/>
        </p:spPr>
        <p:txBody>
          <a:bodyPr wrap="square" lIns="0" tIns="0" rIns="0" bIns="0" rtlCol="0" anchor="ctr"/>
          <a:lstStyle/>
          <a:p>
            <a:pPr marL="0" indent="0">
              <a:buNone/>
            </a:pPr>
            <a:r>
              <a:rPr lang="en-US" sz="5400" b="1" dirty="0">
                <a:solidFill>
                  <a:srgbClr val="0E3B3E"/>
                </a:solidFill>
                <a:latin typeface="Cambria" pitchFamily="34" charset="0"/>
                <a:ea typeface="Cambria" pitchFamily="34" charset="-122"/>
                <a:cs typeface="Cambria" pitchFamily="34" charset="-120"/>
              </a:rPr>
              <a:t>27</a:t>
            </a:r>
            <a:endParaRPr lang="en-US" sz="5400" dirty="0"/>
          </a:p>
        </p:txBody>
      </p:sp>
      <p:sp>
        <p:nvSpPr>
          <p:cNvPr id="6" name="Text 4"/>
          <p:cNvSpPr/>
          <p:nvPr/>
        </p:nvSpPr>
        <p:spPr>
          <a:xfrm>
            <a:off x="914400" y="2697480"/>
            <a:ext cx="2075688" cy="411480"/>
          </a:xfrm>
          <a:prstGeom prst="rect">
            <a:avLst/>
          </a:prstGeom>
          <a:noFill/>
          <a:ln/>
        </p:spPr>
        <p:txBody>
          <a:bodyPr wrap="square" lIns="0" tIns="0" rIns="0" bIns="0" rtlCol="0" anchor="t"/>
          <a:lstStyle/>
          <a:p>
            <a:pPr marL="0" indent="0">
              <a:buNone/>
            </a:pPr>
            <a:r>
              <a:rPr lang="en-US" sz="1400" b="1" dirty="0">
                <a:solidFill>
                  <a:srgbClr val="1B2A2C"/>
                </a:solidFill>
                <a:latin typeface="Calibri" pitchFamily="34" charset="0"/>
                <a:ea typeface="Calibri" pitchFamily="34" charset="-122"/>
                <a:cs typeface="Calibri" pitchFamily="34" charset="-120"/>
              </a:rPr>
              <a:t>curated genes</a:t>
            </a:r>
            <a:endParaRPr lang="en-US" sz="1400" dirty="0"/>
          </a:p>
        </p:txBody>
      </p:sp>
      <p:sp>
        <p:nvSpPr>
          <p:cNvPr id="7" name="Text 5"/>
          <p:cNvSpPr/>
          <p:nvPr/>
        </p:nvSpPr>
        <p:spPr>
          <a:xfrm>
            <a:off x="914400" y="3154680"/>
            <a:ext cx="2075688" cy="1143000"/>
          </a:xfrm>
          <a:prstGeom prst="rect">
            <a:avLst/>
          </a:prstGeom>
          <a:noFill/>
          <a:ln/>
        </p:spPr>
        <p:txBody>
          <a:bodyPr wrap="square" lIns="0" tIns="0" rIns="0" bIns="0" rtlCol="0" anchor="t"/>
          <a:lstStyle/>
          <a:p>
            <a:pPr marL="0" indent="0">
              <a:lnSpc>
                <a:spcPts val="1550"/>
              </a:lnSpc>
              <a:buNone/>
            </a:pPr>
            <a:r>
              <a:rPr lang="en-US" sz="1150" dirty="0">
                <a:solidFill>
                  <a:srgbClr val="5F7274"/>
                </a:solidFill>
                <a:latin typeface="Calibri" pitchFamily="34" charset="0"/>
                <a:ea typeface="Calibri" pitchFamily="34" charset="-122"/>
                <a:cs typeface="Calibri" pitchFamily="34" charset="-120"/>
              </a:rPr>
              <a:t>plus 5 recurrent CNV regions — chosen because published care guidance genuinely exists, not to look comprehensive</a:t>
            </a:r>
            <a:endParaRPr lang="en-US" sz="1150" dirty="0"/>
          </a:p>
        </p:txBody>
      </p:sp>
      <p:sp>
        <p:nvSpPr>
          <p:cNvPr id="8" name="Shape 6"/>
          <p:cNvSpPr/>
          <p:nvPr/>
        </p:nvSpPr>
        <p:spPr>
          <a:xfrm>
            <a:off x="3465576" y="1572768"/>
            <a:ext cx="2624328" cy="2697480"/>
          </a:xfrm>
          <a:prstGeom prst="roundRect">
            <a:avLst>
              <a:gd name="adj" fmla="val 2091"/>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9" name="Text 7"/>
          <p:cNvSpPr/>
          <p:nvPr/>
        </p:nvSpPr>
        <p:spPr>
          <a:xfrm>
            <a:off x="3739896" y="1783080"/>
            <a:ext cx="2075688" cy="868680"/>
          </a:xfrm>
          <a:prstGeom prst="rect">
            <a:avLst/>
          </a:prstGeom>
          <a:noFill/>
          <a:ln/>
        </p:spPr>
        <p:txBody>
          <a:bodyPr wrap="square" lIns="0" tIns="0" rIns="0" bIns="0" rtlCol="0" anchor="ctr"/>
          <a:lstStyle/>
          <a:p>
            <a:pPr marL="0" indent="0">
              <a:buNone/>
            </a:pPr>
            <a:r>
              <a:rPr lang="en-US" sz="3400" b="1" dirty="0">
                <a:solidFill>
                  <a:srgbClr val="0E3B3E"/>
                </a:solidFill>
                <a:latin typeface="Cambria" pitchFamily="34" charset="0"/>
                <a:ea typeface="Cambria" pitchFamily="34" charset="-122"/>
                <a:cs typeface="Cambria" pitchFamily="34" charset="-120"/>
              </a:rPr>
              <a:t>6 · 7 · 4</a:t>
            </a:r>
            <a:endParaRPr lang="en-US" sz="3400" dirty="0"/>
          </a:p>
        </p:txBody>
      </p:sp>
      <p:sp>
        <p:nvSpPr>
          <p:cNvPr id="10" name="Text 8"/>
          <p:cNvSpPr/>
          <p:nvPr/>
        </p:nvSpPr>
        <p:spPr>
          <a:xfrm>
            <a:off x="3739896" y="2697480"/>
            <a:ext cx="2075688" cy="411480"/>
          </a:xfrm>
          <a:prstGeom prst="rect">
            <a:avLst/>
          </a:prstGeom>
          <a:noFill/>
          <a:ln/>
        </p:spPr>
        <p:txBody>
          <a:bodyPr wrap="square" lIns="0" tIns="0" rIns="0" bIns="0" rtlCol="0" anchor="t"/>
          <a:lstStyle/>
          <a:p>
            <a:pPr marL="0" indent="0">
              <a:buNone/>
            </a:pPr>
            <a:r>
              <a:rPr lang="en-US" sz="1400" b="1" dirty="0">
                <a:solidFill>
                  <a:srgbClr val="1B2A2C"/>
                </a:solidFill>
                <a:latin typeface="Calibri" pitchFamily="34" charset="0"/>
                <a:ea typeface="Calibri" pitchFamily="34" charset="-122"/>
                <a:cs typeface="Calibri" pitchFamily="34" charset="-120"/>
              </a:rPr>
              <a:t>the testing-gap index</a:t>
            </a:r>
            <a:endParaRPr lang="en-US" sz="1400" dirty="0"/>
          </a:p>
        </p:txBody>
      </p:sp>
      <p:sp>
        <p:nvSpPr>
          <p:cNvPr id="11" name="Text 9"/>
          <p:cNvSpPr/>
          <p:nvPr/>
        </p:nvSpPr>
        <p:spPr>
          <a:xfrm>
            <a:off x="3739896" y="3154680"/>
            <a:ext cx="2075688" cy="1143000"/>
          </a:xfrm>
          <a:prstGeom prst="rect">
            <a:avLst/>
          </a:prstGeom>
          <a:noFill/>
          <a:ln/>
        </p:spPr>
        <p:txBody>
          <a:bodyPr wrap="square" lIns="0" tIns="0" rIns="0" bIns="0" rtlCol="0" anchor="t"/>
          <a:lstStyle/>
          <a:p>
            <a:pPr marL="0" indent="0">
              <a:lnSpc>
                <a:spcPts val="1550"/>
              </a:lnSpc>
              <a:buNone/>
            </a:pPr>
            <a:r>
              <a:rPr lang="en-US" sz="1150" dirty="0">
                <a:solidFill>
                  <a:srgbClr val="5F7274"/>
                </a:solidFill>
                <a:latin typeface="Calibri" pitchFamily="34" charset="0"/>
                <a:ea typeface="Calibri" pitchFamily="34" charset="-122"/>
                <a:cs typeface="Calibri" pitchFamily="34" charset="-120"/>
              </a:rPr>
              <a:t>clinical indications, prior-test blind spots, and governing authorities — no eligibility criteria, no yield figures</a:t>
            </a:r>
            <a:endParaRPr lang="en-US" sz="1150" dirty="0"/>
          </a:p>
        </p:txBody>
      </p:sp>
      <p:sp>
        <p:nvSpPr>
          <p:cNvPr id="12" name="Shape 10"/>
          <p:cNvSpPr/>
          <p:nvPr/>
        </p:nvSpPr>
        <p:spPr>
          <a:xfrm>
            <a:off x="6291072" y="1572768"/>
            <a:ext cx="2624328" cy="2697480"/>
          </a:xfrm>
          <a:prstGeom prst="roundRect">
            <a:avLst>
              <a:gd name="adj" fmla="val 2091"/>
            </a:avLst>
          </a:prstGeom>
          <a:solidFill>
            <a:srgbClr val="EEF4F3"/>
          </a:solidFill>
          <a:ln w="12700">
            <a:solidFill>
              <a:srgbClr val="EEF4F3"/>
            </a:solidFill>
            <a:prstDash val="solid"/>
          </a:ln>
          <a:effectLst>
            <a:outerShdw blurRad="101600" dist="635" dir="5400000" algn="bl" rotWithShape="0">
              <a:srgbClr val="0E3B3E">
                <a:alpha val="10000"/>
              </a:srgbClr>
            </a:outerShdw>
          </a:effectLst>
        </p:spPr>
        <p:txBody>
          <a:bodyPr/>
          <a:lstStyle/>
          <a:p>
            <a:endParaRPr lang="en-US"/>
          </a:p>
        </p:txBody>
      </p:sp>
      <p:sp>
        <p:nvSpPr>
          <p:cNvPr id="13" name="Text 11"/>
          <p:cNvSpPr/>
          <p:nvPr/>
        </p:nvSpPr>
        <p:spPr>
          <a:xfrm>
            <a:off x="6565392" y="1783080"/>
            <a:ext cx="2075688" cy="868680"/>
          </a:xfrm>
          <a:prstGeom prst="rect">
            <a:avLst/>
          </a:prstGeom>
          <a:noFill/>
          <a:ln/>
        </p:spPr>
        <p:txBody>
          <a:bodyPr wrap="square" lIns="0" tIns="0" rIns="0" bIns="0" rtlCol="0" anchor="ctr"/>
          <a:lstStyle/>
          <a:p>
            <a:pPr marL="0" indent="0">
              <a:buNone/>
            </a:pPr>
            <a:r>
              <a:rPr lang="en-US" sz="5400" b="1" dirty="0">
                <a:solidFill>
                  <a:srgbClr val="0E3B3E"/>
                </a:solidFill>
                <a:latin typeface="Cambria" pitchFamily="34" charset="0"/>
                <a:ea typeface="Cambria" pitchFamily="34" charset="-122"/>
                <a:cs typeface="Cambria" pitchFamily="34" charset="-120"/>
              </a:rPr>
              <a:t>49</a:t>
            </a:r>
            <a:endParaRPr lang="en-US" sz="5400" dirty="0"/>
          </a:p>
        </p:txBody>
      </p:sp>
      <p:sp>
        <p:nvSpPr>
          <p:cNvPr id="14" name="Text 12"/>
          <p:cNvSpPr/>
          <p:nvPr/>
        </p:nvSpPr>
        <p:spPr>
          <a:xfrm>
            <a:off x="6565392" y="2697480"/>
            <a:ext cx="2075688" cy="411480"/>
          </a:xfrm>
          <a:prstGeom prst="rect">
            <a:avLst/>
          </a:prstGeom>
          <a:noFill/>
          <a:ln/>
        </p:spPr>
        <p:txBody>
          <a:bodyPr wrap="square" lIns="0" tIns="0" rIns="0" bIns="0" rtlCol="0" anchor="t"/>
          <a:lstStyle/>
          <a:p>
            <a:pPr marL="0" indent="0">
              <a:buNone/>
            </a:pPr>
            <a:r>
              <a:rPr lang="en-US" sz="1400" b="1" dirty="0">
                <a:solidFill>
                  <a:srgbClr val="1B2A2C"/>
                </a:solidFill>
                <a:latin typeface="Calibri" pitchFamily="34" charset="0"/>
                <a:ea typeface="Calibri" pitchFamily="34" charset="-122"/>
                <a:cs typeface="Calibri" pitchFamily="34" charset="-120"/>
              </a:rPr>
              <a:t>automated checks</a:t>
            </a:r>
            <a:endParaRPr lang="en-US" sz="1400" dirty="0"/>
          </a:p>
        </p:txBody>
      </p:sp>
      <p:sp>
        <p:nvSpPr>
          <p:cNvPr id="15" name="Text 13"/>
          <p:cNvSpPr/>
          <p:nvPr/>
        </p:nvSpPr>
        <p:spPr>
          <a:xfrm>
            <a:off x="6565392" y="3154680"/>
            <a:ext cx="2075688" cy="1143000"/>
          </a:xfrm>
          <a:prstGeom prst="rect">
            <a:avLst/>
          </a:prstGeom>
          <a:noFill/>
          <a:ln/>
        </p:spPr>
        <p:txBody>
          <a:bodyPr wrap="square" lIns="0" tIns="0" rIns="0" bIns="0" rtlCol="0" anchor="t"/>
          <a:lstStyle/>
          <a:p>
            <a:pPr marL="0" indent="0">
              <a:lnSpc>
                <a:spcPts val="1550"/>
              </a:lnSpc>
              <a:buNone/>
            </a:pPr>
            <a:r>
              <a:rPr lang="en-US" sz="1150" dirty="0">
                <a:solidFill>
                  <a:srgbClr val="5F7274"/>
                </a:solidFill>
                <a:latin typeface="Calibri" pitchFamily="34" charset="0"/>
                <a:ea typeface="Calibri" pitchFamily="34" charset="-122"/>
                <a:cs typeface="Calibri" pitchFamily="34" charset="-120"/>
              </a:rPr>
              <a:t>34 parser regressions and 15 routing checks, plus an identifier leak scan run across every fixture</a:t>
            </a:r>
            <a:endParaRPr lang="en-US" sz="1150" dirty="0"/>
          </a:p>
        </p:txBody>
      </p:sp>
      <p:sp>
        <p:nvSpPr>
          <p:cNvPr id="16" name="Shape 14"/>
          <p:cNvSpPr/>
          <p:nvPr/>
        </p:nvSpPr>
        <p:spPr>
          <a:xfrm>
            <a:off x="9116568" y="1572768"/>
            <a:ext cx="2624328" cy="2697480"/>
          </a:xfrm>
          <a:prstGeom prst="roundRect">
            <a:avLst>
              <a:gd name="adj" fmla="val 2091"/>
            </a:avLst>
          </a:prstGeom>
          <a:solidFill>
            <a:srgbClr val="F7EFE9"/>
          </a:solidFill>
          <a:ln w="12700">
            <a:solidFill>
              <a:srgbClr val="F7EFE9"/>
            </a:solidFill>
            <a:prstDash val="solid"/>
          </a:ln>
          <a:effectLst>
            <a:outerShdw blurRad="101600" dist="635" dir="5400000" algn="bl" rotWithShape="0">
              <a:srgbClr val="0E3B3E">
                <a:alpha val="10000"/>
              </a:srgbClr>
            </a:outerShdw>
          </a:effectLst>
        </p:spPr>
        <p:txBody>
          <a:bodyPr/>
          <a:lstStyle/>
          <a:p>
            <a:endParaRPr lang="en-US"/>
          </a:p>
        </p:txBody>
      </p:sp>
      <p:sp>
        <p:nvSpPr>
          <p:cNvPr id="17" name="Text 15"/>
          <p:cNvSpPr/>
          <p:nvPr/>
        </p:nvSpPr>
        <p:spPr>
          <a:xfrm>
            <a:off x="9390888" y="1783080"/>
            <a:ext cx="2075688" cy="868680"/>
          </a:xfrm>
          <a:prstGeom prst="rect">
            <a:avLst/>
          </a:prstGeom>
          <a:noFill/>
          <a:ln/>
        </p:spPr>
        <p:txBody>
          <a:bodyPr wrap="square" lIns="0" tIns="0" rIns="0" bIns="0" rtlCol="0" anchor="ctr"/>
          <a:lstStyle/>
          <a:p>
            <a:pPr marL="0" indent="0">
              <a:buNone/>
            </a:pPr>
            <a:r>
              <a:rPr lang="en-US" sz="5400" b="1" dirty="0">
                <a:solidFill>
                  <a:srgbClr val="C25A28"/>
                </a:solidFill>
                <a:latin typeface="Cambria" pitchFamily="34" charset="0"/>
                <a:ea typeface="Cambria" pitchFamily="34" charset="-122"/>
                <a:cs typeface="Cambria" pitchFamily="34" charset="-120"/>
              </a:rPr>
              <a:t>0</a:t>
            </a:r>
            <a:endParaRPr lang="en-US" sz="5400" dirty="0"/>
          </a:p>
        </p:txBody>
      </p:sp>
      <p:sp>
        <p:nvSpPr>
          <p:cNvPr id="18" name="Text 16"/>
          <p:cNvSpPr/>
          <p:nvPr/>
        </p:nvSpPr>
        <p:spPr>
          <a:xfrm>
            <a:off x="9390888" y="2697480"/>
            <a:ext cx="2075688" cy="411480"/>
          </a:xfrm>
          <a:prstGeom prst="rect">
            <a:avLst/>
          </a:prstGeom>
          <a:noFill/>
          <a:ln/>
        </p:spPr>
        <p:txBody>
          <a:bodyPr wrap="square" lIns="0" tIns="0" rIns="0" bIns="0" rtlCol="0" anchor="t"/>
          <a:lstStyle/>
          <a:p>
            <a:pPr marL="0" indent="0">
              <a:buNone/>
            </a:pPr>
            <a:r>
              <a:rPr lang="en-US" sz="1400" b="1" dirty="0">
                <a:solidFill>
                  <a:srgbClr val="1B2A2C"/>
                </a:solidFill>
                <a:latin typeface="Calibri" pitchFamily="34" charset="0"/>
                <a:ea typeface="Calibri" pitchFamily="34" charset="-122"/>
                <a:cs typeface="Calibri" pitchFamily="34" charset="-120"/>
              </a:rPr>
              <a:t>third-party dependencies</a:t>
            </a:r>
            <a:endParaRPr lang="en-US" sz="1400" dirty="0"/>
          </a:p>
        </p:txBody>
      </p:sp>
      <p:sp>
        <p:nvSpPr>
          <p:cNvPr id="19" name="Text 17"/>
          <p:cNvSpPr/>
          <p:nvPr/>
        </p:nvSpPr>
        <p:spPr>
          <a:xfrm>
            <a:off x="9390888" y="3154680"/>
            <a:ext cx="2075688" cy="1143000"/>
          </a:xfrm>
          <a:prstGeom prst="rect">
            <a:avLst/>
          </a:prstGeom>
          <a:noFill/>
          <a:ln/>
        </p:spPr>
        <p:txBody>
          <a:bodyPr wrap="square" lIns="0" tIns="0" rIns="0" bIns="0" rtlCol="0" anchor="t"/>
          <a:lstStyle/>
          <a:p>
            <a:pPr marL="0" indent="0">
              <a:lnSpc>
                <a:spcPts val="1550"/>
              </a:lnSpc>
              <a:buNone/>
            </a:pPr>
            <a:r>
              <a:rPr lang="en-US" sz="1150" dirty="0">
                <a:solidFill>
                  <a:srgbClr val="5F7274"/>
                </a:solidFill>
                <a:latin typeface="Calibri" pitchFamily="34" charset="0"/>
                <a:ea typeface="Calibri" pitchFamily="34" charset="-122"/>
                <a:cs typeface="Calibri" pitchFamily="34" charset="-120"/>
              </a:rPr>
              <a:t>Python 3.10+, standard library only. No HTTP client, no LLM SDK, no bioinformatics stack</a:t>
            </a:r>
            <a:endParaRPr lang="en-US" sz="1150" dirty="0"/>
          </a:p>
        </p:txBody>
      </p:sp>
      <p:sp>
        <p:nvSpPr>
          <p:cNvPr id="20" name="Shape 18"/>
          <p:cNvSpPr/>
          <p:nvPr/>
        </p:nvSpPr>
        <p:spPr>
          <a:xfrm>
            <a:off x="640080" y="4526280"/>
            <a:ext cx="10908792" cy="1371600"/>
          </a:xfrm>
          <a:prstGeom prst="roundRect">
            <a:avLst>
              <a:gd name="adj" fmla="val 4000"/>
            </a:avLst>
          </a:prstGeom>
          <a:solidFill>
            <a:srgbClr val="0E3B3E"/>
          </a:solidFill>
          <a:ln w="12700">
            <a:solidFill>
              <a:srgbClr val="0E3B3E"/>
            </a:solidFill>
            <a:prstDash val="solid"/>
          </a:ln>
        </p:spPr>
        <p:txBody>
          <a:bodyPr/>
          <a:lstStyle/>
          <a:p>
            <a:endParaRPr lang="en-US"/>
          </a:p>
        </p:txBody>
      </p:sp>
      <p:sp>
        <p:nvSpPr>
          <p:cNvPr id="21" name="Text 19"/>
          <p:cNvSpPr/>
          <p:nvPr/>
        </p:nvSpPr>
        <p:spPr>
          <a:xfrm>
            <a:off x="1097280" y="4681728"/>
            <a:ext cx="10058400" cy="36576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Coverage is a starting set, and the repository says so.</a:t>
            </a:r>
            <a:endParaRPr lang="en-US" sz="1800" dirty="0"/>
          </a:p>
        </p:txBody>
      </p:sp>
      <p:sp>
        <p:nvSpPr>
          <p:cNvPr id="22" name="Text 20"/>
          <p:cNvSpPr/>
          <p:nvPr/>
        </p:nvSpPr>
        <p:spPr>
          <a:xfrm>
            <a:off x="1097280" y="5074920"/>
            <a:ext cx="10058400" cy="640080"/>
          </a:xfrm>
          <a:prstGeom prst="rect">
            <a:avLst/>
          </a:prstGeom>
          <a:noFill/>
          <a:ln/>
        </p:spPr>
        <p:txBody>
          <a:bodyPr wrap="square" lIns="0" tIns="0" rIns="0" bIns="0" rtlCol="0" anchor="t"/>
          <a:lstStyle/>
          <a:p>
            <a:pPr marL="0" indent="0">
              <a:lnSpc>
                <a:spcPts val="1800"/>
              </a:lnSpc>
              <a:buNone/>
            </a:pPr>
            <a:r>
              <a:rPr lang="en-US" sz="1300" dirty="0">
                <a:solidFill>
                  <a:srgbClr val="C9DEDA"/>
                </a:solidFill>
                <a:latin typeface="Calibri" pitchFamily="34" charset="0"/>
                <a:ea typeface="Calibri" pitchFamily="34" charset="-122"/>
                <a:cs typeface="Calibri" pitchFamily="34" charset="-120"/>
              </a:rPr>
              <a:t>Most neurodevelopmental genes are not in the index. There is no OCR. Access pathways cover the UK and US only — elsewhere it gives the clinical recommendation and says plainly that it does not know the local route.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3B3E"/>
        </a:solidFill>
        <a:effectLst/>
      </p:bgPr>
    </p:bg>
    <p:spTree>
      <p:nvGrpSpPr>
        <p:cNvPr id="1" name=""/>
        <p:cNvGrpSpPr/>
        <p:nvPr/>
      </p:nvGrpSpPr>
      <p:grpSpPr>
        <a:xfrm>
          <a:off x="0" y="0"/>
          <a:ext cx="0" cy="0"/>
          <a:chOff x="0" y="0"/>
          <a:chExt cx="0" cy="0"/>
        </a:xfrm>
      </p:grpSpPr>
      <p:sp>
        <p:nvSpPr>
          <p:cNvPr id="2" name="Text 0"/>
          <p:cNvSpPr/>
          <p:nvPr/>
        </p:nvSpPr>
        <p:spPr>
          <a:xfrm>
            <a:off x="640080" y="256032"/>
            <a:ext cx="10908792" cy="237744"/>
          </a:xfrm>
          <a:prstGeom prst="rect">
            <a:avLst/>
          </a:prstGeom>
          <a:noFill/>
          <a:ln/>
        </p:spPr>
        <p:txBody>
          <a:bodyPr wrap="square" lIns="0" tIns="0" rIns="0" bIns="0" rtlCol="0" anchor="ctr"/>
          <a:lstStyle/>
          <a:p>
            <a:pPr marL="0" indent="0">
              <a:buNone/>
            </a:pPr>
            <a:r>
              <a:rPr lang="en-US" sz="1100" b="1" kern="0" spc="200" dirty="0">
                <a:solidFill>
                  <a:srgbClr val="3E8F86"/>
                </a:solidFill>
                <a:latin typeface="Calibri" pitchFamily="34" charset="0"/>
                <a:ea typeface="Calibri" pitchFamily="34" charset="-122"/>
                <a:cs typeface="Calibri" pitchFamily="34" charset="-120"/>
              </a:rPr>
              <a:t>WHERE IT GOES</a:t>
            </a:r>
            <a:endParaRPr lang="en-US" sz="1100" dirty="0"/>
          </a:p>
        </p:txBody>
      </p:sp>
      <p:sp>
        <p:nvSpPr>
          <p:cNvPr id="3" name="Text 1"/>
          <p:cNvSpPr/>
          <p:nvPr/>
        </p:nvSpPr>
        <p:spPr>
          <a:xfrm>
            <a:off x="640080" y="457200"/>
            <a:ext cx="10908792" cy="777240"/>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The delivery problem is the whole roadmap.</a:t>
            </a:r>
            <a:endParaRPr lang="en-US" sz="3800" dirty="0"/>
          </a:p>
        </p:txBody>
      </p:sp>
      <p:sp>
        <p:nvSpPr>
          <p:cNvPr id="4" name="Shape 2"/>
          <p:cNvSpPr/>
          <p:nvPr/>
        </p:nvSpPr>
        <p:spPr>
          <a:xfrm>
            <a:off x="640080" y="1792224"/>
            <a:ext cx="512064" cy="512064"/>
          </a:xfrm>
          <a:prstGeom prst="ellipse">
            <a:avLst/>
          </a:prstGeom>
          <a:solidFill>
            <a:srgbClr val="3E8F86"/>
          </a:solidFill>
          <a:ln w="12700">
            <a:solidFill>
              <a:srgbClr val="3E8F86"/>
            </a:solidFill>
            <a:prstDash val="solid"/>
          </a:ln>
        </p:spPr>
        <p:txBody>
          <a:bodyPr/>
          <a:lstStyle/>
          <a:p>
            <a:endParaRPr lang="en-US"/>
          </a:p>
        </p:txBody>
      </p:sp>
      <p:sp>
        <p:nvSpPr>
          <p:cNvPr id="5" name="Text 3"/>
          <p:cNvSpPr/>
          <p:nvPr/>
        </p:nvSpPr>
        <p:spPr>
          <a:xfrm>
            <a:off x="640080" y="1792224"/>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v1</a:t>
            </a:r>
            <a:endParaRPr lang="en-US" sz="1400" dirty="0"/>
          </a:p>
        </p:txBody>
      </p:sp>
      <p:sp>
        <p:nvSpPr>
          <p:cNvPr id="6" name="Text 4"/>
          <p:cNvSpPr/>
          <p:nvPr/>
        </p:nvSpPr>
        <p:spPr>
          <a:xfrm>
            <a:off x="1417320" y="1737360"/>
            <a:ext cx="10058400" cy="658368"/>
          </a:xfrm>
          <a:prstGeom prst="rect">
            <a:avLst/>
          </a:prstGeom>
          <a:noFill/>
          <a:ln/>
        </p:spPr>
        <p:txBody>
          <a:bodyPr wrap="square" lIns="0" tIns="0" rIns="0" bIns="0" rtlCol="0" anchor="ctr"/>
          <a:lstStyle/>
          <a:p>
            <a:pPr marL="0" indent="0">
              <a:lnSpc>
                <a:spcPts val="2000"/>
              </a:lnSpc>
              <a:buNone/>
            </a:pPr>
            <a:r>
              <a:rPr lang="en-US" sz="1450" dirty="0">
                <a:solidFill>
                  <a:srgbClr val="C9DEDA"/>
                </a:solidFill>
                <a:latin typeface="Calibri" pitchFamily="34" charset="0"/>
                <a:ea typeface="Calibri" pitchFamily="34" charset="-122"/>
                <a:cs typeface="Calibri" pitchFamily="34" charset="-120"/>
              </a:rPr>
              <a:t>Report translation, gene-to-care, and the risk layer.</a:t>
            </a:r>
            <a:endParaRPr lang="en-US" sz="1450" dirty="0"/>
          </a:p>
        </p:txBody>
      </p:sp>
      <p:sp>
        <p:nvSpPr>
          <p:cNvPr id="7" name="Shape 5"/>
          <p:cNvSpPr/>
          <p:nvPr/>
        </p:nvSpPr>
        <p:spPr>
          <a:xfrm>
            <a:off x="640080" y="2688336"/>
            <a:ext cx="512064" cy="512064"/>
          </a:xfrm>
          <a:prstGeom prst="ellipse">
            <a:avLst/>
          </a:prstGeom>
          <a:solidFill>
            <a:srgbClr val="3E8F86"/>
          </a:solidFill>
          <a:ln w="12700">
            <a:solidFill>
              <a:srgbClr val="3E8F86"/>
            </a:solidFill>
            <a:prstDash val="solid"/>
          </a:ln>
        </p:spPr>
        <p:txBody>
          <a:bodyPr/>
          <a:lstStyle/>
          <a:p>
            <a:endParaRPr lang="en-US"/>
          </a:p>
        </p:txBody>
      </p:sp>
      <p:sp>
        <p:nvSpPr>
          <p:cNvPr id="8" name="Text 6"/>
          <p:cNvSpPr/>
          <p:nvPr/>
        </p:nvSpPr>
        <p:spPr>
          <a:xfrm>
            <a:off x="640080" y="2688336"/>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v2</a:t>
            </a:r>
            <a:endParaRPr lang="en-US" sz="1400" dirty="0"/>
          </a:p>
        </p:txBody>
      </p:sp>
      <p:sp>
        <p:nvSpPr>
          <p:cNvPr id="9" name="Text 7"/>
          <p:cNvSpPr/>
          <p:nvPr/>
        </p:nvSpPr>
        <p:spPr>
          <a:xfrm>
            <a:off x="1417320" y="2633472"/>
            <a:ext cx="10058400" cy="658368"/>
          </a:xfrm>
          <a:prstGeom prst="rect">
            <a:avLst/>
          </a:prstGeom>
          <a:noFill/>
          <a:ln/>
        </p:spPr>
        <p:txBody>
          <a:bodyPr wrap="square" lIns="0" tIns="0" rIns="0" bIns="0" rtlCol="0" anchor="ctr"/>
          <a:lstStyle/>
          <a:p>
            <a:pPr marL="0" indent="0">
              <a:lnSpc>
                <a:spcPts val="2000"/>
              </a:lnSpc>
              <a:buNone/>
            </a:pPr>
            <a:r>
              <a:rPr lang="en-US" sz="1450" dirty="0">
                <a:solidFill>
                  <a:srgbClr val="C9DEDA"/>
                </a:solidFill>
                <a:latin typeface="Calibri" pitchFamily="34" charset="0"/>
                <a:ea typeface="Calibri" pitchFamily="34" charset="-122"/>
                <a:cs typeface="Calibri" pitchFamily="34" charset="-120"/>
              </a:rPr>
              <a:t>The testing gap — what the assay already done could not have found, what is indicated next, and by whose authority. Targets the 11.3% directly.</a:t>
            </a:r>
            <a:endParaRPr lang="en-US" sz="1450" dirty="0"/>
          </a:p>
        </p:txBody>
      </p:sp>
      <p:sp>
        <p:nvSpPr>
          <p:cNvPr id="10" name="Shape 8"/>
          <p:cNvSpPr/>
          <p:nvPr/>
        </p:nvSpPr>
        <p:spPr>
          <a:xfrm>
            <a:off x="640080" y="3584448"/>
            <a:ext cx="512064" cy="512064"/>
          </a:xfrm>
          <a:prstGeom prst="ellipse">
            <a:avLst/>
          </a:prstGeom>
          <a:solidFill>
            <a:srgbClr val="3E8F86"/>
          </a:solidFill>
          <a:ln w="12700">
            <a:solidFill>
              <a:srgbClr val="3E8F86"/>
            </a:solidFill>
            <a:prstDash val="solid"/>
          </a:ln>
        </p:spPr>
        <p:txBody>
          <a:bodyPr/>
          <a:lstStyle/>
          <a:p>
            <a:endParaRPr lang="en-US"/>
          </a:p>
        </p:txBody>
      </p:sp>
      <p:sp>
        <p:nvSpPr>
          <p:cNvPr id="11" name="Text 9"/>
          <p:cNvSpPr/>
          <p:nvPr/>
        </p:nvSpPr>
        <p:spPr>
          <a:xfrm>
            <a:off x="640080" y="3584448"/>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v3</a:t>
            </a:r>
            <a:endParaRPr lang="en-US" sz="1400" dirty="0"/>
          </a:p>
        </p:txBody>
      </p:sp>
      <p:sp>
        <p:nvSpPr>
          <p:cNvPr id="12" name="Text 10"/>
          <p:cNvSpPr/>
          <p:nvPr/>
        </p:nvSpPr>
        <p:spPr>
          <a:xfrm>
            <a:off x="1417320" y="3529584"/>
            <a:ext cx="10058400" cy="658368"/>
          </a:xfrm>
          <a:prstGeom prst="rect">
            <a:avLst/>
          </a:prstGeom>
          <a:noFill/>
          <a:ln/>
        </p:spPr>
        <p:txBody>
          <a:bodyPr wrap="square" lIns="0" tIns="0" rIns="0" bIns="0" rtlCol="0" anchor="ctr"/>
          <a:lstStyle/>
          <a:p>
            <a:pPr marL="0" indent="0">
              <a:lnSpc>
                <a:spcPts val="2000"/>
              </a:lnSpc>
              <a:buNone/>
            </a:pPr>
            <a:r>
              <a:rPr lang="en-US" sz="1450" dirty="0">
                <a:solidFill>
                  <a:srgbClr val="C9DEDA"/>
                </a:solidFill>
                <a:latin typeface="Calibri" pitchFamily="34" charset="0"/>
                <a:ea typeface="Calibri" pitchFamily="34" charset="-122"/>
                <a:cs typeface="Calibri" pitchFamily="34" charset="-120"/>
              </a:rPr>
              <a:t>Reanalysis advocate, on case-level facts only. Plain-language translation of a clinician's document, with meaning preserved.</a:t>
            </a:r>
            <a:endParaRPr lang="en-US" sz="1450" dirty="0"/>
          </a:p>
        </p:txBody>
      </p:sp>
      <p:sp>
        <p:nvSpPr>
          <p:cNvPr id="13" name="Shape 11"/>
          <p:cNvSpPr/>
          <p:nvPr/>
        </p:nvSpPr>
        <p:spPr>
          <a:xfrm>
            <a:off x="640080" y="4480560"/>
            <a:ext cx="512064" cy="512064"/>
          </a:xfrm>
          <a:prstGeom prst="ellipse">
            <a:avLst/>
          </a:prstGeom>
          <a:solidFill>
            <a:srgbClr val="C25A28"/>
          </a:solidFill>
          <a:ln w="12700">
            <a:solidFill>
              <a:srgbClr val="C25A28"/>
            </a:solidFill>
            <a:prstDash val="solid"/>
          </a:ln>
        </p:spPr>
        <p:txBody>
          <a:bodyPr/>
          <a:lstStyle/>
          <a:p>
            <a:endParaRPr lang="en-US"/>
          </a:p>
        </p:txBody>
      </p:sp>
      <p:sp>
        <p:nvSpPr>
          <p:cNvPr id="14" name="Text 12"/>
          <p:cNvSpPr/>
          <p:nvPr/>
        </p:nvSpPr>
        <p:spPr>
          <a:xfrm>
            <a:off x="640080" y="4480560"/>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v4</a:t>
            </a:r>
            <a:endParaRPr lang="en-US" sz="1400" dirty="0"/>
          </a:p>
        </p:txBody>
      </p:sp>
      <p:sp>
        <p:nvSpPr>
          <p:cNvPr id="15" name="Text 13"/>
          <p:cNvSpPr/>
          <p:nvPr/>
        </p:nvSpPr>
        <p:spPr>
          <a:xfrm>
            <a:off x="1417320" y="4425696"/>
            <a:ext cx="10058400" cy="658368"/>
          </a:xfrm>
          <a:prstGeom prst="rect">
            <a:avLst/>
          </a:prstGeom>
          <a:noFill/>
          <a:ln/>
        </p:spPr>
        <p:txBody>
          <a:bodyPr wrap="square" lIns="0" tIns="0" rIns="0" bIns="0" rtlCol="0" anchor="ctr"/>
          <a:lstStyle/>
          <a:p>
            <a:pPr marL="0" indent="0">
              <a:lnSpc>
                <a:spcPts val="2000"/>
              </a:lnSpc>
              <a:buNone/>
            </a:pPr>
            <a:r>
              <a:rPr lang="en-US" sz="1450" b="1" dirty="0">
                <a:solidFill>
                  <a:srgbClr val="FFFFFF"/>
                </a:solidFill>
                <a:latin typeface="Calibri" pitchFamily="34" charset="0"/>
                <a:ea typeface="Calibri" pitchFamily="34" charset="-122"/>
                <a:cs typeface="Calibri" pitchFamily="34" charset="-120"/>
              </a:rPr>
              <a:t>Cost and latency reduction, overlap review, documentation. Current.</a:t>
            </a:r>
            <a:endParaRPr lang="en-US" sz="1450" dirty="0"/>
          </a:p>
        </p:txBody>
      </p:sp>
      <p:sp>
        <p:nvSpPr>
          <p:cNvPr id="16" name="Shape 14"/>
          <p:cNvSpPr/>
          <p:nvPr/>
        </p:nvSpPr>
        <p:spPr>
          <a:xfrm>
            <a:off x="640080" y="5349240"/>
            <a:ext cx="10908792" cy="914400"/>
          </a:xfrm>
          <a:prstGeom prst="roundRect">
            <a:avLst>
              <a:gd name="adj" fmla="val 6000"/>
            </a:avLst>
          </a:prstGeom>
          <a:solidFill>
            <a:srgbClr val="17565A"/>
          </a:solidFill>
          <a:ln w="12700">
            <a:solidFill>
              <a:srgbClr val="17565A"/>
            </a:solidFill>
            <a:prstDash val="solid"/>
          </a:ln>
        </p:spPr>
        <p:txBody>
          <a:bodyPr/>
          <a:lstStyle/>
          <a:p>
            <a:endParaRPr lang="en-US"/>
          </a:p>
        </p:txBody>
      </p:sp>
      <p:sp>
        <p:nvSpPr>
          <p:cNvPr id="17" name="Text 15"/>
          <p:cNvSpPr/>
          <p:nvPr/>
        </p:nvSpPr>
        <p:spPr>
          <a:xfrm>
            <a:off x="1097280" y="5349240"/>
            <a:ext cx="10058400" cy="914400"/>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It is not a diagnostic tool. It is a delivery tool — and delivery is the part that is missing.</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3115</Words>
  <Application>Microsoft Macintosh PowerPoint</Application>
  <PresentationFormat>Widescreen</PresentationFormat>
  <Paragraphs>166</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Autism Gene-to-Care Navigator</dc:title>
  <dc:subject>PptxGenJS Presentation</dc:subject>
  <dc:creator>Dominic Ho</dc:creator>
  <cp:lastModifiedBy>Lap Hin Ho</cp:lastModifiedBy>
  <cp:revision>3</cp:revision>
  <dcterms:created xsi:type="dcterms:W3CDTF">2026-08-17T17:31:08Z</dcterms:created>
  <dcterms:modified xsi:type="dcterms:W3CDTF">2026-08-17T17:43:14Z</dcterms:modified>
</cp:coreProperties>
</file>